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 will present a Database Management System project for a medium-sized retail store. The system manages products, categories, suppliers, customers and billing using Oracle. It has six related tables, realistic sample data, a PL/SQL trigger that automatically calculates bill totals, and a formatted bill receipt printed from SQL*Plus. Please replace the placeholders with your name and roll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roadmap: starting with why the database is needed, an overview of all six tables, the entity-relationship diagram, the exact column structures, the trigger that keeps bill totals correct, sample data with verification, the printed receipt, how to run the project, basic operations, useful reports, and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store has three main jobs: keep a catalogue of products, know who supplies them, and bill customers correctly. If everything lived in one flat table, the same product or customer name would be repeated everywhere, leading to inconsistencies. So the data is split into separate related tables. The project runs on Oracle, uses SQL for the schema and queries, and one small PL/SQL trigger keeps bill totals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tables cover the entire workflow. Products is the catalogue; Categories and Suppliers are lookup tables referenced by products; Customers holds buyer details; Bills stores one row per purchase; and BillItems stores the individual lines of each bill. This is a balanced, normalized design for a medium-sized store.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entity-relationship model. A category contains many products and each product belongs to one category; a supplier supplies many products. A customer creates many bills, and each bill belongs to one customer. A bill has many line items, and a product can appear in many bills — this many-to-many link between bills and products is resolved by the BillItems junction table. The white circles mark the cardinality: 1 on the 'one' side, M on the 'many' 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exactly five relationships, all one-to-many. The first two connect the catalogue to its lookup tables. The third links customers to their purchases. The last two involve BillItems: one bill has many lines, and one product shows up in many bills. The Bills-to-Products many-to-many is resolved through BillItems. Every link is enforced by the database with a foreign key.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Categories and Suppliers are small lookup tables with a primary key and a name. Products is the central catalogue: a name, a price with two decimals, stock, and two foreign keys — one to the category and one to the supplier. The foreign keys guarantee that a product cannot be created for a category or supplier that does not exist, and that a referenced category or supplier cannot be deleted.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Customers stores buyer details. Bills stores one row per purchase with the customer id and the date — the date defaults to the current system date. The total is not entered by a user; a trigger computes it from the bill lines. BillItems is the junction table: each row is one line of a bill, with the quantity and the price at the moment of sale, so repricing a product later never changes old bills.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actual DDL. PRIMARY KEY makes a column unique and not null. REFERENCES creates a foreign key, so Oracle itself rejects invalid ids and prevents deletion of referenced rows. Parent tables are created first and children first when dropping — the reset script drops BillItems, then Bills, then Customers, then Products, Categories and Suppliers.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project. Whenever bill items are inserted, updated or deleted, the trigger runs automatically: it collects every bill that appears in BillItems, adds up price times quantity for each, and writes the result into Bills.TotalAmount. It is statement-level — it fires once per SQL statement — because a row-level trigger would try to query the very table being modified, and Oracle raises the mutating table error ORA-04091. The design decision is what makes the totals always correct with zero manual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script loads realistic sample data: five categories, two suppliers, five products, three customers, two bills and five bill lines. The bills are inserted with a total of zero and the trigger fills them — bill 1001 becomes 655 and bill 1002 becomes 97. The verification query joins Bills with BillItems and proves that TotalAmount always equals the sum of the 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bill script with a bill number produces a real receipt: the store name, bill number and date, customer name with phone, each product line with quantity, unit price and amount, and a grand total drawn from the trigger-maintained TotalAmount — so the receipt always matches the database. The layout is achieved with SQL*Plus formatting commands like COLUMN FORMAT, BREAK and COMPUTE SUM.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project takes two commands. The first runs the main script that drops and recreates all tables, installs the trigger, loads sample data and runs the verification queries. The second prints a receipt for any bill number. You can also open SQL*Plus interactively to run your own queries.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Basic operations follow standard SQL: INSERT adds a row, SELECT reads with filters and sorting, UPDATE changes values, DELETE removes a row, and COMMIT saves the transaction. The interesting part is what the foreign keys refuse — deleting a category with products, a customer with bills, or a product used in a bill raises ORA-02292. That is referential integrity protecting the data by design.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everyday reports of the store. Joining products with categories turns id numbers into readable names. Grouping bills by date shows daily sales. Grouping bill items by product and ordering by the sum of quantities shows the best sellers. A simple filter finds low-stock products that need reordering.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database fully covers the workflow of a medium-sized store with just six tables. The normalized design avoids redundancy, foreign keys enforce integrity, and the trigger guarantees bill totals are always the exact sum of their lines. Receipts print in a real billing format. The design is easy to extend for GST, discounts, offers or stock alerts.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I am happy to answer questions about the schema design, the trigger, or any of the queries shown.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17720"/>
            <a:ext cx="12191695" cy="64008"/>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365760"/>
          </a:xfrm>
          <a:prstGeom prst="rect">
            <a:avLst/>
          </a:prstGeom>
          <a:noFill/>
        </p:spPr>
        <p:txBody>
          <a:bodyPr wrap="square">
            <a:spAutoFit/>
          </a:bodyPr>
          <a:lstStyle/>
          <a:p>
            <a:pPr algn="l">
              <a:spcAft>
                <a:spcPts val="0"/>
              </a:spcAft>
            </a:pPr>
            <a:r>
              <a:rPr sz="1500" b="1">
                <a:solidFill>
                  <a:srgbClr val="ED7D31"/>
                </a:solidFill>
                <a:latin typeface="Consolas"/>
              </a:rPr>
              <a:t>D B M S   M I N I   P R O J E C T</a:t>
            </a:r>
          </a:p>
        </p:txBody>
      </p:sp>
      <p:sp>
        <p:nvSpPr>
          <p:cNvPr id="5" name="TextBox 4"/>
          <p:cNvSpPr txBox="1"/>
          <p:nvPr/>
        </p:nvSpPr>
        <p:spPr>
          <a:xfrm>
            <a:off x="822960" y="1600200"/>
            <a:ext cx="10515600" cy="1188720"/>
          </a:xfrm>
          <a:prstGeom prst="rect">
            <a:avLst/>
          </a:prstGeom>
          <a:noFill/>
        </p:spPr>
        <p:txBody>
          <a:bodyPr wrap="square">
            <a:spAutoFit/>
          </a:bodyPr>
          <a:lstStyle/>
          <a:p>
            <a:pPr algn="l">
              <a:spcAft>
                <a:spcPts val="0"/>
              </a:spcAft>
            </a:pPr>
            <a:r>
              <a:rPr sz="4600" b="1">
                <a:solidFill>
                  <a:srgbClr val="FFFFFF"/>
                </a:solidFill>
                <a:latin typeface="Calibri"/>
              </a:rPr>
              <a:t>Retail Store Management System</a:t>
            </a:r>
          </a:p>
        </p:txBody>
      </p:sp>
      <p:sp>
        <p:nvSpPr>
          <p:cNvPr id="6" name="TextBox 5"/>
          <p:cNvSpPr txBox="1"/>
          <p:nvPr/>
        </p:nvSpPr>
        <p:spPr>
          <a:xfrm>
            <a:off x="822960" y="2606040"/>
            <a:ext cx="10515600" cy="640080"/>
          </a:xfrm>
          <a:prstGeom prst="rect">
            <a:avLst/>
          </a:prstGeom>
          <a:noFill/>
        </p:spPr>
        <p:txBody>
          <a:bodyPr wrap="square">
            <a:spAutoFit/>
          </a:bodyPr>
          <a:lstStyle/>
          <a:p>
            <a:pPr algn="l">
              <a:spcAft>
                <a:spcPts val="0"/>
              </a:spcAft>
            </a:pPr>
            <a:r>
              <a:rPr sz="1900" b="0">
                <a:solidFill>
                  <a:srgbClr val="BFD1EB"/>
                </a:solidFill>
                <a:latin typeface="Calibri"/>
              </a:rPr>
              <a:t>A complete Oracle database for a medium-sized store — products, suppliers, customers and billing.</a:t>
            </a:r>
          </a:p>
        </p:txBody>
      </p:sp>
      <p:sp>
        <p:nvSpPr>
          <p:cNvPr id="7" name="Rounded Rectangle 6"/>
          <p:cNvSpPr/>
          <p:nvPr/>
        </p:nvSpPr>
        <p:spPr>
          <a:xfrm>
            <a:off x="822960" y="3429000"/>
            <a:ext cx="1691640" cy="457200"/>
          </a:xfrm>
          <a:prstGeom prst="roundRect">
            <a:avLst/>
          </a:prstGeom>
          <a:solidFill>
            <a:srgbClr val="1F3864"/>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ED7D31"/>
                </a:solidFill>
                <a:latin typeface="Calibri"/>
              </a:rPr>
              <a:t>Oracle SQL</a:t>
            </a:r>
          </a:p>
        </p:txBody>
      </p:sp>
      <p:sp>
        <p:nvSpPr>
          <p:cNvPr id="8" name="Rounded Rectangle 7"/>
          <p:cNvSpPr/>
          <p:nvPr/>
        </p:nvSpPr>
        <p:spPr>
          <a:xfrm>
            <a:off x="2651760" y="3429000"/>
            <a:ext cx="1691640" cy="457200"/>
          </a:xfrm>
          <a:prstGeom prst="roundRect">
            <a:avLst/>
          </a:prstGeom>
          <a:solidFill>
            <a:srgbClr val="1F3864"/>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ED7D31"/>
                </a:solidFill>
                <a:latin typeface="Calibri"/>
              </a:rPr>
              <a:t>PL/SQL Trigger</a:t>
            </a:r>
          </a:p>
        </p:txBody>
      </p:sp>
      <p:sp>
        <p:nvSpPr>
          <p:cNvPr id="9" name="Rounded Rectangle 8"/>
          <p:cNvSpPr/>
          <p:nvPr/>
        </p:nvSpPr>
        <p:spPr>
          <a:xfrm>
            <a:off x="4480560" y="3429000"/>
            <a:ext cx="1691640" cy="457200"/>
          </a:xfrm>
          <a:prstGeom prst="roundRect">
            <a:avLst/>
          </a:prstGeom>
          <a:solidFill>
            <a:srgbClr val="1F3864"/>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ED7D31"/>
                </a:solidFill>
                <a:latin typeface="Calibri"/>
              </a:rPr>
              <a:t>SQL*Plus Receipts</a:t>
            </a:r>
          </a:p>
        </p:txBody>
      </p:sp>
      <p:sp>
        <p:nvSpPr>
          <p:cNvPr id="10" name="TextBox 9"/>
          <p:cNvSpPr txBox="1"/>
          <p:nvPr/>
        </p:nvSpPr>
        <p:spPr>
          <a:xfrm>
            <a:off x="822960" y="5074920"/>
            <a:ext cx="10515600" cy="822960"/>
          </a:xfrm>
          <a:prstGeom prst="rect">
            <a:avLst/>
          </a:prstGeom>
          <a:noFill/>
        </p:spPr>
        <p:txBody>
          <a:bodyPr wrap="square">
            <a:spAutoFit/>
          </a:bodyPr>
          <a:lstStyle/>
          <a:p>
            <a:pPr algn="l">
              <a:spcAft>
                <a:spcPts val="400"/>
              </a:spcAft>
            </a:pPr>
            <a:r>
              <a:rPr sz="1700" b="0">
                <a:solidFill>
                  <a:srgbClr val="FFFFFF"/>
                </a:solidFill>
                <a:latin typeface="Calibri"/>
              </a:rPr>
              <a:t>Presented by:  [Your Name]          Roll No:  [Your Roll No]</a:t>
            </a:r>
          </a:p>
          <a:p>
            <a:pPr algn="l">
              <a:spcAft>
                <a:spcPts val="0"/>
              </a:spcAft>
            </a:pPr>
            <a:r>
              <a:rPr sz="1300" b="0">
                <a:solidFill>
                  <a:srgbClr val="BFD1EB"/>
                </a:solidFill>
                <a:latin typeface="Calibri"/>
              </a:rPr>
              <a:t>Subject: Database Management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Agenda</a:t>
            </a:r>
          </a:p>
        </p:txBody>
      </p:sp>
      <p:sp>
        <p:nvSpPr>
          <p:cNvPr id="5" name="TextBox 4"/>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6" name="TextBox 5"/>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2</a:t>
            </a:r>
          </a:p>
        </p:txBody>
      </p:sp>
      <p:sp>
        <p:nvSpPr>
          <p:cNvPr id="7" name="Rounded Rectangle 6"/>
          <p:cNvSpPr/>
          <p:nvPr/>
        </p:nvSpPr>
        <p:spPr>
          <a:xfrm>
            <a:off x="822960" y="1298448"/>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1.  Introduction &amp; Need</a:t>
            </a:r>
          </a:p>
        </p:txBody>
      </p:sp>
      <p:sp>
        <p:nvSpPr>
          <p:cNvPr id="8" name="Rounded Rectangle 7"/>
          <p:cNvSpPr/>
          <p:nvPr/>
        </p:nvSpPr>
        <p:spPr>
          <a:xfrm>
            <a:off x="6446520" y="1298448"/>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2.  All 6 Tables at a Glance</a:t>
            </a:r>
          </a:p>
        </p:txBody>
      </p:sp>
      <p:sp>
        <p:nvSpPr>
          <p:cNvPr id="9" name="Rounded Rectangle 8"/>
          <p:cNvSpPr/>
          <p:nvPr/>
        </p:nvSpPr>
        <p:spPr>
          <a:xfrm>
            <a:off x="822960" y="2185415"/>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3.  Entity-Relationship Diagram</a:t>
            </a:r>
          </a:p>
        </p:txBody>
      </p:sp>
      <p:sp>
        <p:nvSpPr>
          <p:cNvPr id="10" name="Rounded Rectangle 9"/>
          <p:cNvSpPr/>
          <p:nvPr/>
        </p:nvSpPr>
        <p:spPr>
          <a:xfrm>
            <a:off x="6446520" y="2185415"/>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4.  Table Structures (columns &amp; keys)</a:t>
            </a:r>
          </a:p>
        </p:txBody>
      </p:sp>
      <p:sp>
        <p:nvSpPr>
          <p:cNvPr id="11" name="Rounded Rectangle 10"/>
          <p:cNvSpPr/>
          <p:nvPr/>
        </p:nvSpPr>
        <p:spPr>
          <a:xfrm>
            <a:off x="822960" y="3072384"/>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5.  PL/SQL Trigger — auto bill totals</a:t>
            </a:r>
          </a:p>
        </p:txBody>
      </p:sp>
      <p:sp>
        <p:nvSpPr>
          <p:cNvPr id="12" name="Rounded Rectangle 11"/>
          <p:cNvSpPr/>
          <p:nvPr/>
        </p:nvSpPr>
        <p:spPr>
          <a:xfrm>
            <a:off x="6446520" y="3072384"/>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6.  Sample Data &amp; Verification</a:t>
            </a:r>
          </a:p>
        </p:txBody>
      </p:sp>
      <p:sp>
        <p:nvSpPr>
          <p:cNvPr id="13" name="Rounded Rectangle 12"/>
          <p:cNvSpPr/>
          <p:nvPr/>
        </p:nvSpPr>
        <p:spPr>
          <a:xfrm>
            <a:off x="822960" y="3959352"/>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7.  Bill Receipt Generation</a:t>
            </a:r>
          </a:p>
        </p:txBody>
      </p:sp>
      <p:sp>
        <p:nvSpPr>
          <p:cNvPr id="14" name="Rounded Rectangle 13"/>
          <p:cNvSpPr/>
          <p:nvPr/>
        </p:nvSpPr>
        <p:spPr>
          <a:xfrm>
            <a:off x="6446520" y="3959352"/>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8.  How to Run</a:t>
            </a:r>
          </a:p>
        </p:txBody>
      </p:sp>
      <p:sp>
        <p:nvSpPr>
          <p:cNvPr id="15" name="Rounded Rectangle 14"/>
          <p:cNvSpPr/>
          <p:nvPr/>
        </p:nvSpPr>
        <p:spPr>
          <a:xfrm>
            <a:off x="822960" y="4846320"/>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 9.  CRUD Operations</a:t>
            </a:r>
          </a:p>
        </p:txBody>
      </p:sp>
      <p:sp>
        <p:nvSpPr>
          <p:cNvPr id="16" name="Rounded Rectangle 15"/>
          <p:cNvSpPr/>
          <p:nvPr/>
        </p:nvSpPr>
        <p:spPr>
          <a:xfrm>
            <a:off x="6446520" y="4846320"/>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10.  Report Queries</a:t>
            </a:r>
          </a:p>
        </p:txBody>
      </p:sp>
      <p:sp>
        <p:nvSpPr>
          <p:cNvPr id="17" name="Rounded Rectangle 16"/>
          <p:cNvSpPr/>
          <p:nvPr/>
        </p:nvSpPr>
        <p:spPr>
          <a:xfrm>
            <a:off x="822960" y="5733288"/>
            <a:ext cx="5257800" cy="676656"/>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lIns="201168"/>
          <a:lstStyle/>
          <a:p>
            <a:pPr algn="ctr"/>
            <a:r>
              <a:rPr sz="1550" b="1">
                <a:solidFill>
                  <a:srgbClr val="1F3864"/>
                </a:solidFill>
                <a:latin typeface="Calibri"/>
              </a:rPr>
              <a:t>11.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Introduction &amp; Need</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What the system does and why it exists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3</a:t>
            </a:r>
          </a:p>
        </p:txBody>
      </p:sp>
      <p:sp>
        <p:nvSpPr>
          <p:cNvPr id="8" name="TextBox 7"/>
          <p:cNvSpPr txBox="1"/>
          <p:nvPr/>
        </p:nvSpPr>
        <p:spPr>
          <a:xfrm>
            <a:off x="822960" y="1280160"/>
            <a:ext cx="6035040" cy="4206240"/>
          </a:xfrm>
          <a:prstGeom prst="rect">
            <a:avLst/>
          </a:prstGeom>
          <a:noFill/>
        </p:spPr>
        <p:txBody>
          <a:bodyPr wrap="square">
            <a:spAutoFit/>
          </a:bodyPr>
          <a:lstStyle/>
          <a:p>
            <a:pPr algn="l">
              <a:spcAft>
                <a:spcPts val="400"/>
              </a:spcAft>
            </a:pPr>
            <a:r>
              <a:rPr sz="1450" b="1">
                <a:solidFill>
                  <a:srgbClr val="1F3864"/>
                </a:solidFill>
                <a:latin typeface="Calibri"/>
              </a:rPr>
              <a:t>•  Daily problem</a:t>
            </a:r>
          </a:p>
          <a:p>
            <a:pPr algn="l">
              <a:spcAft>
                <a:spcPts val="400"/>
              </a:spcAft>
            </a:pPr>
            <a:r>
              <a:rPr sz="1300" b="0">
                <a:solidFill>
                  <a:srgbClr val="333333"/>
                </a:solidFill>
                <a:latin typeface="Calibri"/>
              </a:rPr>
              <a:t>      A store sells many products to many customers; product, price and bill records must be stored and tracked.</a:t>
            </a:r>
          </a:p>
          <a:p>
            <a:pPr algn="l">
              <a:spcAft>
                <a:spcPts val="400"/>
              </a:spcAft>
            </a:pPr>
            <a:r>
              <a:rPr sz="1450" b="1">
                <a:solidFill>
                  <a:srgbClr val="1F3864"/>
                </a:solidFill>
                <a:latin typeface="Calibri"/>
              </a:rPr>
              <a:t>•  Without a database</a:t>
            </a:r>
          </a:p>
          <a:p>
            <a:pPr algn="l">
              <a:spcAft>
                <a:spcPts val="400"/>
              </a:spcAft>
            </a:pPr>
            <a:r>
              <a:rPr sz="1300" b="0">
                <a:solidFill>
                  <a:srgbClr val="333333"/>
                </a:solidFill>
                <a:latin typeface="Calibri"/>
              </a:rPr>
              <a:t>      Data gets repeated, mistakes creep in, and bill totals are calculated by hand.</a:t>
            </a:r>
          </a:p>
          <a:p>
            <a:pPr algn="l">
              <a:spcAft>
                <a:spcPts val="400"/>
              </a:spcAft>
            </a:pPr>
            <a:r>
              <a:rPr sz="1450" b="1">
                <a:solidFill>
                  <a:srgbClr val="1F3864"/>
                </a:solidFill>
                <a:latin typeface="Calibri"/>
              </a:rPr>
              <a:t>•  This project</a:t>
            </a:r>
          </a:p>
          <a:p>
            <a:pPr algn="l">
              <a:spcAft>
                <a:spcPts val="400"/>
              </a:spcAft>
            </a:pPr>
            <a:r>
              <a:rPr sz="1300" b="0">
                <a:solidFill>
                  <a:srgbClr val="333333"/>
                </a:solidFill>
                <a:latin typeface="Calibri"/>
              </a:rPr>
              <a:t>      Six related tables manage products, categories, suppliers, customers and billing.</a:t>
            </a:r>
          </a:p>
          <a:p>
            <a:pPr algn="l">
              <a:spcAft>
                <a:spcPts val="400"/>
              </a:spcAft>
            </a:pPr>
            <a:r>
              <a:rPr sz="1450" b="1">
                <a:solidFill>
                  <a:srgbClr val="1F3864"/>
                </a:solidFill>
                <a:latin typeface="Calibri"/>
              </a:rPr>
              <a:t>•  The smart part</a:t>
            </a:r>
          </a:p>
          <a:p>
            <a:pPr algn="l">
              <a:spcAft>
                <a:spcPts val="400"/>
              </a:spcAft>
            </a:pPr>
            <a:r>
              <a:rPr sz="1300" b="0">
                <a:solidFill>
                  <a:srgbClr val="333333"/>
                </a:solidFill>
                <a:latin typeface="Calibri"/>
              </a:rPr>
              <a:t>      A PL/SQL trigger computes every bill total automatically — no manual math, no errors.</a:t>
            </a:r>
          </a:p>
          <a:p>
            <a:pPr algn="l">
              <a:spcAft>
                <a:spcPts val="400"/>
              </a:spcAft>
            </a:pPr>
            <a:r>
              <a:rPr sz="1450" b="1">
                <a:solidFill>
                  <a:srgbClr val="1F3864"/>
                </a:solidFill>
                <a:latin typeface="Calibri"/>
              </a:rPr>
              <a:t>•  Output</a:t>
            </a:r>
          </a:p>
          <a:p>
            <a:pPr algn="l">
              <a:spcAft>
                <a:spcPts val="400"/>
              </a:spcAft>
            </a:pPr>
            <a:r>
              <a:rPr sz="1300" b="0">
                <a:solidFill>
                  <a:srgbClr val="333333"/>
                </a:solidFill>
                <a:latin typeface="Calibri"/>
              </a:rPr>
              <a:t>      Any bill can be printed instantly as a formatted receipt from SQL*Plus.</a:t>
            </a:r>
          </a:p>
        </p:txBody>
      </p:sp>
      <p:sp>
        <p:nvSpPr>
          <p:cNvPr id="9" name="Rounded Rectangle 8"/>
          <p:cNvSpPr/>
          <p:nvPr/>
        </p:nvSpPr>
        <p:spPr>
          <a:xfrm>
            <a:off x="7223760" y="1280160"/>
            <a:ext cx="4160520" cy="3749039"/>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4928" y="1389888"/>
            <a:ext cx="3758183" cy="365760"/>
          </a:xfrm>
          <a:prstGeom prst="rect">
            <a:avLst/>
          </a:prstGeom>
          <a:noFill/>
        </p:spPr>
        <p:txBody>
          <a:bodyPr wrap="square">
            <a:spAutoFit/>
          </a:bodyPr>
          <a:lstStyle/>
          <a:p>
            <a:pPr algn="l">
              <a:spcAft>
                <a:spcPts val="0"/>
              </a:spcAft>
            </a:pPr>
            <a:r>
              <a:rPr sz="1450" b="1">
                <a:solidFill>
                  <a:srgbClr val="1F3864"/>
                </a:solidFill>
                <a:latin typeface="Calibri"/>
              </a:rPr>
              <a:t>Problems it solves</a:t>
            </a:r>
          </a:p>
        </p:txBody>
      </p:sp>
      <p:sp>
        <p:nvSpPr>
          <p:cNvPr id="11" name="TextBox 10"/>
          <p:cNvSpPr txBox="1"/>
          <p:nvPr/>
        </p:nvSpPr>
        <p:spPr>
          <a:xfrm>
            <a:off x="7498079" y="1783080"/>
            <a:ext cx="3657600" cy="3108960"/>
          </a:xfrm>
          <a:prstGeom prst="rect">
            <a:avLst/>
          </a:prstGeom>
          <a:noFill/>
        </p:spPr>
        <p:txBody>
          <a:bodyPr wrap="square">
            <a:spAutoFit/>
          </a:bodyPr>
          <a:lstStyle/>
          <a:p>
            <a:pPr algn="l">
              <a:spcAft>
                <a:spcPts val="700"/>
              </a:spcAft>
            </a:pPr>
            <a:r>
              <a:rPr sz="1350" b="0">
                <a:solidFill>
                  <a:srgbClr val="333333"/>
                </a:solidFill>
                <a:latin typeface="Calibri"/>
              </a:rPr>
              <a:t>•  Redundant data (same name written again and again)</a:t>
            </a:r>
          </a:p>
          <a:p>
            <a:pPr algn="l">
              <a:spcAft>
                <a:spcPts val="700"/>
              </a:spcAft>
            </a:pPr>
            <a:r>
              <a:rPr sz="1350" b="0">
                <a:solidFill>
                  <a:srgbClr val="333333"/>
                </a:solidFill>
                <a:latin typeface="Calibri"/>
              </a:rPr>
              <a:t>•  Wrong bill totals</a:t>
            </a:r>
          </a:p>
          <a:p>
            <a:pPr algn="l">
              <a:spcAft>
                <a:spcPts val="700"/>
              </a:spcAft>
            </a:pPr>
            <a:r>
              <a:rPr sz="1350" b="0">
                <a:solidFill>
                  <a:srgbClr val="333333"/>
                </a:solidFill>
                <a:latin typeface="Calibri"/>
              </a:rPr>
              <a:t>•  No record of who bought what</a:t>
            </a:r>
          </a:p>
          <a:p>
            <a:pPr algn="l">
              <a:spcAft>
                <a:spcPts val="700"/>
              </a:spcAft>
            </a:pPr>
            <a:r>
              <a:rPr sz="1350" b="0">
                <a:solidFill>
                  <a:srgbClr val="333333"/>
                </a:solidFill>
                <a:latin typeface="Calibri"/>
              </a:rPr>
              <a:t>•  Slow manual billing</a:t>
            </a:r>
          </a:p>
        </p:txBody>
      </p:sp>
      <p:sp>
        <p:nvSpPr>
          <p:cNvPr id="12" name="Rounded Rectangle 11"/>
          <p:cNvSpPr/>
          <p:nvPr/>
        </p:nvSpPr>
        <p:spPr>
          <a:xfrm>
            <a:off x="7223760" y="5212080"/>
            <a:ext cx="4160520" cy="914400"/>
          </a:xfrm>
          <a:prstGeom prst="roundRect">
            <a:avLst/>
          </a:prstGeom>
          <a:solidFill>
            <a:srgbClr val="FDF0E3"/>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5394960"/>
            <a:ext cx="3749039" cy="640080"/>
          </a:xfrm>
          <a:prstGeom prst="rect">
            <a:avLst/>
          </a:prstGeom>
          <a:noFill/>
        </p:spPr>
        <p:txBody>
          <a:bodyPr wrap="square">
            <a:spAutoFit/>
          </a:bodyPr>
          <a:lstStyle/>
          <a:p>
            <a:pPr algn="l">
              <a:spcAft>
                <a:spcPts val="0"/>
              </a:spcAft>
            </a:pPr>
            <a:r>
              <a:rPr sz="1400" b="1">
                <a:solidFill>
                  <a:srgbClr val="9A4B12"/>
                </a:solidFill>
                <a:latin typeface="Calibri"/>
              </a:rPr>
              <a:t>Technology:  Oracle SQL  •  PL/SQL  •  SQL*Plus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All 6 Tables at a Glance</a:t>
            </a:r>
          </a:p>
        </p:txBody>
      </p:sp>
      <p:sp>
        <p:nvSpPr>
          <p:cNvPr id="5" name="TextBox 4"/>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6" name="TextBox 5"/>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4</a:t>
            </a:r>
          </a:p>
        </p:txBody>
      </p:sp>
      <p:graphicFrame>
        <p:nvGraphicFramePr>
          <p:cNvPr id="7" name="Table 6"/>
          <p:cNvGraphicFramePr>
            <a:graphicFrameLocks noGrp="1"/>
          </p:cNvGraphicFramePr>
          <p:nvPr/>
        </p:nvGraphicFramePr>
        <p:xfrm>
          <a:off x="822960" y="1325880"/>
          <a:ext cx="10789920" cy="2688336"/>
        </p:xfrm>
        <a:graphic>
          <a:graphicData uri="http://schemas.openxmlformats.org/drawingml/2006/table">
            <a:tbl>
              <a:tblPr firstRow="1" bandRow="1">
                <a:tableStyleId>{5C22544A-7EE6-4342-B048-85BDC9FD1C3A}</a:tableStyleId>
              </a:tblPr>
              <a:tblGrid>
                <a:gridCol w="548640"/>
                <a:gridCol w="1554480"/>
                <a:gridCol w="4480560"/>
                <a:gridCol w="4206240"/>
              </a:tblGrid>
              <a:tr h="384048">
                <a:tc>
                  <a:txBody>
                    <a:bodyPr wrap="square"/>
                    <a:lstStyle/>
                    <a:p>
                      <a:r>
                        <a:rPr sz="1250" b="1">
                          <a:solidFill>
                            <a:srgbClr val="FFFFFF"/>
                          </a:solidFill>
                          <a:latin typeface="Calibri"/>
                        </a:rPr>
                        <a:t>#</a:t>
                      </a:r>
                    </a:p>
                  </a:txBody>
                  <a:tcPr marT="12700" marB="12700" marL="88900" marR="63500">
                    <a:solidFill>
                      <a:srgbClr val="1F3864"/>
                    </a:solidFill>
                  </a:tcPr>
                </a:tc>
                <a:tc>
                  <a:txBody>
                    <a:bodyPr wrap="square"/>
                    <a:lstStyle/>
                    <a:p>
                      <a:r>
                        <a:rPr sz="1250" b="1">
                          <a:solidFill>
                            <a:srgbClr val="FFFFFF"/>
                          </a:solidFill>
                          <a:latin typeface="Calibri"/>
                        </a:rPr>
                        <a:t>Table</a:t>
                      </a:r>
                    </a:p>
                  </a:txBody>
                  <a:tcPr marT="12700" marB="12700" marL="88900" marR="63500">
                    <a:solidFill>
                      <a:srgbClr val="1F3864"/>
                    </a:solidFill>
                  </a:tcPr>
                </a:tc>
                <a:tc>
                  <a:txBody>
                    <a:bodyPr wrap="square"/>
                    <a:lstStyle/>
                    <a:p>
                      <a:r>
                        <a:rPr sz="1250" b="1">
                          <a:solidFill>
                            <a:srgbClr val="FFFFFF"/>
                          </a:solidFill>
                          <a:latin typeface="Calibri"/>
                        </a:rPr>
                        <a:t>Stores</a:t>
                      </a:r>
                    </a:p>
                  </a:txBody>
                  <a:tcPr marT="12700" marB="12700" marL="88900" marR="63500">
                    <a:solidFill>
                      <a:srgbClr val="1F3864"/>
                    </a:solidFill>
                  </a:tcPr>
                </a:tc>
                <a:tc>
                  <a:txBody>
                    <a:bodyPr wrap="square"/>
                    <a:lstStyle/>
                    <a:p>
                      <a:r>
                        <a:rPr sz="1250" b="1">
                          <a:solidFill>
                            <a:srgbClr val="FFFFFF"/>
                          </a:solidFill>
                          <a:latin typeface="Calibri"/>
                        </a:rPr>
                        <a:t>Linked to</a:t>
                      </a:r>
                    </a:p>
                  </a:txBody>
                  <a:tcPr marT="12700" marB="12700" marL="88900" marR="63500">
                    <a:solidFill>
                      <a:srgbClr val="1F3864"/>
                    </a:solidFill>
                  </a:tcPr>
                </a:tc>
              </a:tr>
              <a:tr h="384048">
                <a:tc>
                  <a:txBody>
                    <a:bodyPr wrap="square"/>
                    <a:lstStyle/>
                    <a:p>
                      <a:r>
                        <a:rPr sz="1250" b="0">
                          <a:solidFill>
                            <a:srgbClr val="333333"/>
                          </a:solidFill>
                          <a:latin typeface="Calibri"/>
                        </a:rPr>
                        <a:t>1</a:t>
                      </a:r>
                    </a:p>
                  </a:txBody>
                  <a:tcPr marT="12700" marB="12700" marL="88900" marR="63500">
                    <a:solidFill>
                      <a:srgbClr val="FFFFFF"/>
                    </a:solidFill>
                  </a:tcPr>
                </a:tc>
                <a:tc>
                  <a:txBody>
                    <a:bodyPr wrap="square"/>
                    <a:lstStyle/>
                    <a:p>
                      <a:r>
                        <a:rPr sz="1250" b="0">
                          <a:solidFill>
                            <a:srgbClr val="333333"/>
                          </a:solidFill>
                          <a:latin typeface="Calibri"/>
                        </a:rPr>
                        <a:t>Products</a:t>
                      </a:r>
                    </a:p>
                  </a:txBody>
                  <a:tcPr marT="12700" marB="12700" marL="88900" marR="63500">
                    <a:solidFill>
                      <a:srgbClr val="FFFFFF"/>
                    </a:solidFill>
                  </a:tcPr>
                </a:tc>
                <a:tc>
                  <a:txBody>
                    <a:bodyPr wrap="square"/>
                    <a:lstStyle/>
                    <a:p>
                      <a:r>
                        <a:rPr sz="1250" b="0">
                          <a:solidFill>
                            <a:srgbClr val="333333"/>
                          </a:solidFill>
                          <a:latin typeface="Calibri"/>
                        </a:rPr>
                        <a:t>Items sold — name, price, stock</a:t>
                      </a:r>
                    </a:p>
                  </a:txBody>
                  <a:tcPr marT="12700" marB="12700" marL="88900" marR="63500">
                    <a:solidFill>
                      <a:srgbClr val="FFFFFF"/>
                    </a:solidFill>
                  </a:tcPr>
                </a:tc>
                <a:tc>
                  <a:txBody>
                    <a:bodyPr wrap="square"/>
                    <a:lstStyle/>
                    <a:p>
                      <a:r>
                        <a:rPr sz="1250" b="0">
                          <a:solidFill>
                            <a:srgbClr val="333333"/>
                          </a:solidFill>
                          <a:latin typeface="Calibri"/>
                        </a:rPr>
                        <a:t>Categories, Suppliers, BillItems</a:t>
                      </a:r>
                    </a:p>
                  </a:txBody>
                  <a:tcPr marT="12700" marB="12700" marL="88900" marR="63500">
                    <a:solidFill>
                      <a:srgbClr val="FFFFFF"/>
                    </a:solidFill>
                  </a:tcPr>
                </a:tc>
              </a:tr>
              <a:tr h="384048">
                <a:tc>
                  <a:txBody>
                    <a:bodyPr wrap="square"/>
                    <a:lstStyle/>
                    <a:p>
                      <a:r>
                        <a:rPr sz="1250" b="0">
                          <a:solidFill>
                            <a:srgbClr val="333333"/>
                          </a:solidFill>
                          <a:latin typeface="Calibri"/>
                        </a:rPr>
                        <a:t>2</a:t>
                      </a:r>
                    </a:p>
                  </a:txBody>
                  <a:tcPr marT="12700" marB="12700" marL="88900" marR="63500">
                    <a:solidFill>
                      <a:srgbClr val="F2F4F8"/>
                    </a:solidFill>
                  </a:tcPr>
                </a:tc>
                <a:tc>
                  <a:txBody>
                    <a:bodyPr wrap="square"/>
                    <a:lstStyle/>
                    <a:p>
                      <a:r>
                        <a:rPr sz="1250" b="0">
                          <a:solidFill>
                            <a:srgbClr val="333333"/>
                          </a:solidFill>
                          <a:latin typeface="Calibri"/>
                        </a:rPr>
                        <a:t>Categories</a:t>
                      </a:r>
                    </a:p>
                  </a:txBody>
                  <a:tcPr marT="12700" marB="12700" marL="88900" marR="63500">
                    <a:solidFill>
                      <a:srgbClr val="F2F4F8"/>
                    </a:solidFill>
                  </a:tcPr>
                </a:tc>
                <a:tc>
                  <a:txBody>
                    <a:bodyPr wrap="square"/>
                    <a:lstStyle/>
                    <a:p>
                      <a:r>
                        <a:rPr sz="1250" b="0">
                          <a:solidFill>
                            <a:srgbClr val="333333"/>
                          </a:solidFill>
                          <a:latin typeface="Calibri"/>
                        </a:rPr>
                        <a:t>Product groups (Grocery, Beverages, ...)</a:t>
                      </a:r>
                    </a:p>
                  </a:txBody>
                  <a:tcPr marT="12700" marB="12700" marL="88900" marR="63500">
                    <a:solidFill>
                      <a:srgbClr val="F2F4F8"/>
                    </a:solidFill>
                  </a:tcPr>
                </a:tc>
                <a:tc>
                  <a:txBody>
                    <a:bodyPr wrap="square"/>
                    <a:lstStyle/>
                    <a:p>
                      <a:r>
                        <a:rPr sz="1250" b="0">
                          <a:solidFill>
                            <a:srgbClr val="333333"/>
                          </a:solidFill>
                          <a:latin typeface="Calibri"/>
                        </a:rPr>
                        <a:t>Products</a:t>
                      </a:r>
                    </a:p>
                  </a:txBody>
                  <a:tcPr marT="12700" marB="12700" marL="88900" marR="63500">
                    <a:solidFill>
                      <a:srgbClr val="F2F4F8"/>
                    </a:solidFill>
                  </a:tcPr>
                </a:tc>
              </a:tr>
              <a:tr h="384048">
                <a:tc>
                  <a:txBody>
                    <a:bodyPr wrap="square"/>
                    <a:lstStyle/>
                    <a:p>
                      <a:r>
                        <a:rPr sz="1250" b="0">
                          <a:solidFill>
                            <a:srgbClr val="333333"/>
                          </a:solidFill>
                          <a:latin typeface="Calibri"/>
                        </a:rPr>
                        <a:t>3</a:t>
                      </a:r>
                    </a:p>
                  </a:txBody>
                  <a:tcPr marT="12700" marB="12700" marL="88900" marR="63500">
                    <a:solidFill>
                      <a:srgbClr val="FFFFFF"/>
                    </a:solidFill>
                  </a:tcPr>
                </a:tc>
                <a:tc>
                  <a:txBody>
                    <a:bodyPr wrap="square"/>
                    <a:lstStyle/>
                    <a:p>
                      <a:r>
                        <a:rPr sz="1250" b="0">
                          <a:solidFill>
                            <a:srgbClr val="333333"/>
                          </a:solidFill>
                          <a:latin typeface="Calibri"/>
                        </a:rPr>
                        <a:t>Suppliers</a:t>
                      </a:r>
                    </a:p>
                  </a:txBody>
                  <a:tcPr marT="12700" marB="12700" marL="88900" marR="63500">
                    <a:solidFill>
                      <a:srgbClr val="FFFFFF"/>
                    </a:solidFill>
                  </a:tcPr>
                </a:tc>
                <a:tc>
                  <a:txBody>
                    <a:bodyPr wrap="square"/>
                    <a:lstStyle/>
                    <a:p>
                      <a:r>
                        <a:rPr sz="1250" b="0">
                          <a:solidFill>
                            <a:srgbClr val="333333"/>
                          </a:solidFill>
                          <a:latin typeface="Calibri"/>
                        </a:rPr>
                        <a:t>Vendors who supply the store</a:t>
                      </a:r>
                    </a:p>
                  </a:txBody>
                  <a:tcPr marT="12700" marB="12700" marL="88900" marR="63500">
                    <a:solidFill>
                      <a:srgbClr val="FFFFFF"/>
                    </a:solidFill>
                  </a:tcPr>
                </a:tc>
                <a:tc>
                  <a:txBody>
                    <a:bodyPr wrap="square"/>
                    <a:lstStyle/>
                    <a:p>
                      <a:r>
                        <a:rPr sz="1250" b="0">
                          <a:solidFill>
                            <a:srgbClr val="333333"/>
                          </a:solidFill>
                          <a:latin typeface="Calibri"/>
                        </a:rPr>
                        <a:t>Products</a:t>
                      </a:r>
                    </a:p>
                  </a:txBody>
                  <a:tcPr marT="12700" marB="12700" marL="88900" marR="63500">
                    <a:solidFill>
                      <a:srgbClr val="FFFFFF"/>
                    </a:solidFill>
                  </a:tcPr>
                </a:tc>
              </a:tr>
              <a:tr h="384048">
                <a:tc>
                  <a:txBody>
                    <a:bodyPr wrap="square"/>
                    <a:lstStyle/>
                    <a:p>
                      <a:r>
                        <a:rPr sz="1250" b="0">
                          <a:solidFill>
                            <a:srgbClr val="333333"/>
                          </a:solidFill>
                          <a:latin typeface="Calibri"/>
                        </a:rPr>
                        <a:t>4</a:t>
                      </a:r>
                    </a:p>
                  </a:txBody>
                  <a:tcPr marT="12700" marB="12700" marL="88900" marR="63500">
                    <a:solidFill>
                      <a:srgbClr val="F2F4F8"/>
                    </a:solidFill>
                  </a:tcPr>
                </a:tc>
                <a:tc>
                  <a:txBody>
                    <a:bodyPr wrap="square"/>
                    <a:lstStyle/>
                    <a:p>
                      <a:r>
                        <a:rPr sz="1250" b="0">
                          <a:solidFill>
                            <a:srgbClr val="333333"/>
                          </a:solidFill>
                          <a:latin typeface="Calibri"/>
                        </a:rPr>
                        <a:t>Customers</a:t>
                      </a:r>
                    </a:p>
                  </a:txBody>
                  <a:tcPr marT="12700" marB="12700" marL="88900" marR="63500">
                    <a:solidFill>
                      <a:srgbClr val="F2F4F8"/>
                    </a:solidFill>
                  </a:tcPr>
                </a:tc>
                <a:tc>
                  <a:txBody>
                    <a:bodyPr wrap="square"/>
                    <a:lstStyle/>
                    <a:p>
                      <a:r>
                        <a:rPr sz="1250" b="0">
                          <a:solidFill>
                            <a:srgbClr val="333333"/>
                          </a:solidFill>
                          <a:latin typeface="Calibri"/>
                        </a:rPr>
                        <a:t>Buyer details</a:t>
                      </a:r>
                    </a:p>
                  </a:txBody>
                  <a:tcPr marT="12700" marB="12700" marL="88900" marR="63500">
                    <a:solidFill>
                      <a:srgbClr val="F2F4F8"/>
                    </a:solidFill>
                  </a:tcPr>
                </a:tc>
                <a:tc>
                  <a:txBody>
                    <a:bodyPr wrap="square"/>
                    <a:lstStyle/>
                    <a:p>
                      <a:r>
                        <a:rPr sz="1250" b="0">
                          <a:solidFill>
                            <a:srgbClr val="333333"/>
                          </a:solidFill>
                          <a:latin typeface="Calibri"/>
                        </a:rPr>
                        <a:t>Bills</a:t>
                      </a:r>
                    </a:p>
                  </a:txBody>
                  <a:tcPr marT="12700" marB="12700" marL="88900" marR="63500">
                    <a:solidFill>
                      <a:srgbClr val="F2F4F8"/>
                    </a:solidFill>
                  </a:tcPr>
                </a:tc>
              </a:tr>
              <a:tr h="384048">
                <a:tc>
                  <a:txBody>
                    <a:bodyPr wrap="square"/>
                    <a:lstStyle/>
                    <a:p>
                      <a:r>
                        <a:rPr sz="1250" b="0">
                          <a:solidFill>
                            <a:srgbClr val="333333"/>
                          </a:solidFill>
                          <a:latin typeface="Calibri"/>
                        </a:rPr>
                        <a:t>5</a:t>
                      </a:r>
                    </a:p>
                  </a:txBody>
                  <a:tcPr marT="12700" marB="12700" marL="88900" marR="63500">
                    <a:solidFill>
                      <a:srgbClr val="FFFFFF"/>
                    </a:solidFill>
                  </a:tcPr>
                </a:tc>
                <a:tc>
                  <a:txBody>
                    <a:bodyPr wrap="square"/>
                    <a:lstStyle/>
                    <a:p>
                      <a:r>
                        <a:rPr sz="1250" b="0">
                          <a:solidFill>
                            <a:srgbClr val="333333"/>
                          </a:solidFill>
                          <a:latin typeface="Calibri"/>
                        </a:rPr>
                        <a:t>Bills</a:t>
                      </a:r>
                    </a:p>
                  </a:txBody>
                  <a:tcPr marT="12700" marB="12700" marL="88900" marR="63500">
                    <a:solidFill>
                      <a:srgbClr val="FFFFFF"/>
                    </a:solidFill>
                  </a:tcPr>
                </a:tc>
                <a:tc>
                  <a:txBody>
                    <a:bodyPr wrap="square"/>
                    <a:lstStyle/>
                    <a:p>
                      <a:r>
                        <a:rPr sz="1250" b="0">
                          <a:solidFill>
                            <a:srgbClr val="333333"/>
                          </a:solidFill>
                          <a:latin typeface="Calibri"/>
                        </a:rPr>
                        <a:t>One row per purchase</a:t>
                      </a:r>
                    </a:p>
                  </a:txBody>
                  <a:tcPr marT="12700" marB="12700" marL="88900" marR="63500">
                    <a:solidFill>
                      <a:srgbClr val="FFFFFF"/>
                    </a:solidFill>
                  </a:tcPr>
                </a:tc>
                <a:tc>
                  <a:txBody>
                    <a:bodyPr wrap="square"/>
                    <a:lstStyle/>
                    <a:p>
                      <a:r>
                        <a:rPr sz="1250" b="0">
                          <a:solidFill>
                            <a:srgbClr val="333333"/>
                          </a:solidFill>
                          <a:latin typeface="Calibri"/>
                        </a:rPr>
                        <a:t>Customers, BillItems</a:t>
                      </a:r>
                    </a:p>
                  </a:txBody>
                  <a:tcPr marT="12700" marB="12700" marL="88900" marR="63500">
                    <a:solidFill>
                      <a:srgbClr val="FFFFFF"/>
                    </a:solidFill>
                  </a:tcPr>
                </a:tc>
              </a:tr>
              <a:tr h="384048">
                <a:tc>
                  <a:txBody>
                    <a:bodyPr wrap="square"/>
                    <a:lstStyle/>
                    <a:p>
                      <a:r>
                        <a:rPr sz="1250" b="0">
                          <a:solidFill>
                            <a:srgbClr val="333333"/>
                          </a:solidFill>
                          <a:latin typeface="Calibri"/>
                        </a:rPr>
                        <a:t>6</a:t>
                      </a:r>
                    </a:p>
                  </a:txBody>
                  <a:tcPr marT="12700" marB="12700" marL="88900" marR="63500">
                    <a:solidFill>
                      <a:srgbClr val="F2F4F8"/>
                    </a:solidFill>
                  </a:tcPr>
                </a:tc>
                <a:tc>
                  <a:txBody>
                    <a:bodyPr wrap="square"/>
                    <a:lstStyle/>
                    <a:p>
                      <a:r>
                        <a:rPr sz="1250" b="0">
                          <a:solidFill>
                            <a:srgbClr val="333333"/>
                          </a:solidFill>
                          <a:latin typeface="Calibri"/>
                        </a:rPr>
                        <a:t>BillItems</a:t>
                      </a:r>
                    </a:p>
                  </a:txBody>
                  <a:tcPr marT="12700" marB="12700" marL="88900" marR="63500">
                    <a:solidFill>
                      <a:srgbClr val="F2F4F8"/>
                    </a:solidFill>
                  </a:tcPr>
                </a:tc>
                <a:tc>
                  <a:txBody>
                    <a:bodyPr wrap="square"/>
                    <a:lstStyle/>
                    <a:p>
                      <a:r>
                        <a:rPr sz="1250" b="0">
                          <a:solidFill>
                            <a:srgbClr val="333333"/>
                          </a:solidFill>
                          <a:latin typeface="Calibri"/>
                        </a:rPr>
                        <a:t>The lines of each bill (product, qty, price)</a:t>
                      </a:r>
                    </a:p>
                  </a:txBody>
                  <a:tcPr marT="12700" marB="12700" marL="88900" marR="63500">
                    <a:solidFill>
                      <a:srgbClr val="F2F4F8"/>
                    </a:solidFill>
                  </a:tcPr>
                </a:tc>
                <a:tc>
                  <a:txBody>
                    <a:bodyPr wrap="square"/>
                    <a:lstStyle/>
                    <a:p>
                      <a:r>
                        <a:rPr sz="1250" b="0">
                          <a:solidFill>
                            <a:srgbClr val="333333"/>
                          </a:solidFill>
                          <a:latin typeface="Calibri"/>
                        </a:rPr>
                        <a:t>Bills, Products</a:t>
                      </a:r>
                    </a:p>
                  </a:txBody>
                  <a:tcPr marT="12700" marB="12700" marL="88900" marR="63500">
                    <a:solidFill>
                      <a:srgbClr val="F2F4F8"/>
                    </a:solidFill>
                  </a:tcPr>
                </a:tc>
              </a:tr>
            </a:tbl>
          </a:graphicData>
        </a:graphic>
      </p:graphicFrame>
      <p:sp>
        <p:nvSpPr>
          <p:cNvPr id="8" name="TextBox 7"/>
          <p:cNvSpPr txBox="1"/>
          <p:nvPr/>
        </p:nvSpPr>
        <p:spPr>
          <a:xfrm>
            <a:off x="822960" y="4297680"/>
            <a:ext cx="10515600" cy="1828800"/>
          </a:xfrm>
          <a:prstGeom prst="rect">
            <a:avLst/>
          </a:prstGeom>
          <a:noFill/>
        </p:spPr>
        <p:txBody>
          <a:bodyPr wrap="square">
            <a:spAutoFit/>
          </a:bodyPr>
          <a:lstStyle/>
          <a:p>
            <a:pPr algn="l">
              <a:spcAft>
                <a:spcPts val="400"/>
              </a:spcAft>
            </a:pPr>
            <a:r>
              <a:rPr sz="1500" b="1">
                <a:solidFill>
                  <a:srgbClr val="1F3864"/>
                </a:solidFill>
                <a:latin typeface="Calibri"/>
              </a:rPr>
              <a:t>Why only six tables?</a:t>
            </a:r>
          </a:p>
          <a:p>
            <a:pPr algn="l">
              <a:spcAft>
                <a:spcPts val="0"/>
              </a:spcAft>
            </a:pPr>
            <a:r>
              <a:rPr sz="1350" b="0">
                <a:solidFill>
                  <a:srgbClr val="333333"/>
                </a:solidFill>
                <a:latin typeface="Calibri"/>
              </a:rPr>
              <a:t>A medium-sized store does not need more. Lookup data (categories, suppliers) is stored once and referenced by id; the junction table BillItems connects bills and products. This keeps the design simple, normalized and easy to explain — ideal for a DBMS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Entity-Relationship Diagram</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Six entities, five relationships (1 = one, M = many)</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5</a:t>
            </a:r>
          </a:p>
        </p:txBody>
      </p:sp>
      <p:sp>
        <p:nvSpPr>
          <p:cNvPr id="8" name="Rounded Rectangle 7"/>
          <p:cNvSpPr/>
          <p:nvPr/>
        </p:nvSpPr>
        <p:spPr>
          <a:xfrm>
            <a:off x="822960" y="1508760"/>
            <a:ext cx="2468880" cy="914400"/>
          </a:xfrm>
          <a:prstGeom prst="roundRect">
            <a:avLst/>
          </a:prstGeom>
          <a:solidFill>
            <a:srgbClr val="1F3864"/>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CATEGORIES</a:t>
            </a:r>
          </a:p>
          <a:p>
            <a:pPr algn="ctr"/>
            <a:r>
              <a:rPr sz="1050">
                <a:solidFill>
                  <a:srgbClr val="ED7D31"/>
                </a:solidFill>
                <a:latin typeface="Consolas"/>
              </a:rPr>
              <a:t>CategoryID (PK)</a:t>
            </a:r>
          </a:p>
        </p:txBody>
      </p:sp>
      <p:sp>
        <p:nvSpPr>
          <p:cNvPr id="9" name="Rounded Rectangle 8"/>
          <p:cNvSpPr/>
          <p:nvPr/>
        </p:nvSpPr>
        <p:spPr>
          <a:xfrm>
            <a:off x="8915400" y="1508760"/>
            <a:ext cx="2468880" cy="914400"/>
          </a:xfrm>
          <a:prstGeom prst="roundRect">
            <a:avLst/>
          </a:prstGeom>
          <a:solidFill>
            <a:srgbClr val="1F3864"/>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SUPPLIERS</a:t>
            </a:r>
          </a:p>
          <a:p>
            <a:pPr algn="ctr"/>
            <a:r>
              <a:rPr sz="1050">
                <a:solidFill>
                  <a:srgbClr val="ED7D31"/>
                </a:solidFill>
                <a:latin typeface="Consolas"/>
              </a:rPr>
              <a:t>SupplierID (PK)</a:t>
            </a:r>
          </a:p>
        </p:txBody>
      </p:sp>
      <p:sp>
        <p:nvSpPr>
          <p:cNvPr id="10" name="Rounded Rectangle 9"/>
          <p:cNvSpPr/>
          <p:nvPr/>
        </p:nvSpPr>
        <p:spPr>
          <a:xfrm>
            <a:off x="4892040" y="1508760"/>
            <a:ext cx="2468880" cy="914400"/>
          </a:xfrm>
          <a:prstGeom prst="roundRect">
            <a:avLst/>
          </a:prstGeom>
          <a:solidFill>
            <a:srgbClr val="1F3864"/>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PRODUCTS</a:t>
            </a:r>
          </a:p>
          <a:p>
            <a:pPr algn="ctr"/>
            <a:r>
              <a:rPr sz="1050">
                <a:solidFill>
                  <a:srgbClr val="ED7D31"/>
                </a:solidFill>
                <a:latin typeface="Consolas"/>
              </a:rPr>
              <a:t>ProductID (PK)</a:t>
            </a:r>
          </a:p>
        </p:txBody>
      </p:sp>
      <p:sp>
        <p:nvSpPr>
          <p:cNvPr id="11" name="Rounded Rectangle 10"/>
          <p:cNvSpPr/>
          <p:nvPr/>
        </p:nvSpPr>
        <p:spPr>
          <a:xfrm>
            <a:off x="4892040" y="3200400"/>
            <a:ext cx="2468880" cy="914400"/>
          </a:xfrm>
          <a:prstGeom prst="roundRect">
            <a:avLst/>
          </a:prstGeom>
          <a:solidFill>
            <a:srgbClr val="1F3864"/>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BILLITEMS</a:t>
            </a:r>
          </a:p>
          <a:p>
            <a:pPr algn="ctr"/>
            <a:r>
              <a:rPr sz="1050">
                <a:solidFill>
                  <a:srgbClr val="ED7D31"/>
                </a:solidFill>
                <a:latin typeface="Consolas"/>
              </a:rPr>
              <a:t>ItemID (PK)</a:t>
            </a:r>
          </a:p>
        </p:txBody>
      </p:sp>
      <p:sp>
        <p:nvSpPr>
          <p:cNvPr id="12" name="Rounded Rectangle 11"/>
          <p:cNvSpPr/>
          <p:nvPr/>
        </p:nvSpPr>
        <p:spPr>
          <a:xfrm>
            <a:off x="822960" y="4892040"/>
            <a:ext cx="2651760" cy="914400"/>
          </a:xfrm>
          <a:prstGeom prst="roundRect">
            <a:avLst/>
          </a:prstGeom>
          <a:solidFill>
            <a:srgbClr val="1F3864"/>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BILLS</a:t>
            </a:r>
          </a:p>
          <a:p>
            <a:pPr algn="ctr"/>
            <a:r>
              <a:rPr sz="1050">
                <a:solidFill>
                  <a:srgbClr val="ED7D31"/>
                </a:solidFill>
                <a:latin typeface="Consolas"/>
              </a:rPr>
              <a:t>BillID (PK)</a:t>
            </a:r>
          </a:p>
        </p:txBody>
      </p:sp>
      <p:sp>
        <p:nvSpPr>
          <p:cNvPr id="13" name="Rounded Rectangle 12"/>
          <p:cNvSpPr/>
          <p:nvPr/>
        </p:nvSpPr>
        <p:spPr>
          <a:xfrm>
            <a:off x="6126480" y="4892040"/>
            <a:ext cx="2651760" cy="914400"/>
          </a:xfrm>
          <a:prstGeom prst="roundRect">
            <a:avLst/>
          </a:prstGeom>
          <a:solidFill>
            <a:srgbClr val="1F3864"/>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CUSTOMERS</a:t>
            </a:r>
          </a:p>
          <a:p>
            <a:pPr algn="ctr"/>
            <a:r>
              <a:rPr sz="1050">
                <a:solidFill>
                  <a:srgbClr val="ED7D31"/>
                </a:solidFill>
                <a:latin typeface="Consolas"/>
              </a:rPr>
              <a:t>CustomerID (PK)</a:t>
            </a:r>
          </a:p>
        </p:txBody>
      </p:sp>
      <p:cxnSp>
        <p:nvCxnSpPr>
          <p:cNvPr id="14" name="Connector 13"/>
          <p:cNvCxnSpPr/>
          <p:nvPr/>
        </p:nvCxnSpPr>
        <p:spPr>
          <a:xfrm>
            <a:off x="3291840" y="1965960"/>
            <a:ext cx="1600200" cy="0"/>
          </a:xfrm>
          <a:prstGeom prst="line">
            <a:avLst/>
          </a:prstGeom>
          <a:ln w="20320">
            <a:solidFill>
              <a:srgbClr val="7A8BA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685032" y="1847088"/>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1</a:t>
            </a:r>
          </a:p>
        </p:txBody>
      </p:sp>
      <p:sp>
        <p:nvSpPr>
          <p:cNvPr id="16" name="Oval 15"/>
          <p:cNvSpPr/>
          <p:nvPr/>
        </p:nvSpPr>
        <p:spPr>
          <a:xfrm>
            <a:off x="4261104" y="1847088"/>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M</a:t>
            </a:r>
          </a:p>
        </p:txBody>
      </p:sp>
      <p:cxnSp>
        <p:nvCxnSpPr>
          <p:cNvPr id="17" name="Connector 16"/>
          <p:cNvCxnSpPr/>
          <p:nvPr/>
        </p:nvCxnSpPr>
        <p:spPr>
          <a:xfrm>
            <a:off x="7360920" y="1965960"/>
            <a:ext cx="1554480" cy="0"/>
          </a:xfrm>
          <a:prstGeom prst="line">
            <a:avLst/>
          </a:prstGeom>
          <a:ln w="20320">
            <a:solidFill>
              <a:srgbClr val="7A8BA6"/>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739481" y="1847088"/>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M</a:t>
            </a:r>
          </a:p>
        </p:txBody>
      </p:sp>
      <p:sp>
        <p:nvSpPr>
          <p:cNvPr id="19" name="Oval 18"/>
          <p:cNvSpPr/>
          <p:nvPr/>
        </p:nvSpPr>
        <p:spPr>
          <a:xfrm>
            <a:off x="8299094" y="1847088"/>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1</a:t>
            </a:r>
          </a:p>
        </p:txBody>
      </p:sp>
      <p:cxnSp>
        <p:nvCxnSpPr>
          <p:cNvPr id="20" name="Connector 19"/>
          <p:cNvCxnSpPr/>
          <p:nvPr/>
        </p:nvCxnSpPr>
        <p:spPr>
          <a:xfrm>
            <a:off x="6126480" y="2423160"/>
            <a:ext cx="0" cy="777240"/>
          </a:xfrm>
          <a:prstGeom prst="line">
            <a:avLst/>
          </a:prstGeom>
          <a:ln w="20320">
            <a:solidFill>
              <a:srgbClr val="7A8BA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6007608" y="2553004"/>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1</a:t>
            </a:r>
          </a:p>
        </p:txBody>
      </p:sp>
      <p:sp>
        <p:nvSpPr>
          <p:cNvPr id="22" name="Oval 21"/>
          <p:cNvSpPr/>
          <p:nvPr/>
        </p:nvSpPr>
        <p:spPr>
          <a:xfrm>
            <a:off x="6007608" y="2832811"/>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M</a:t>
            </a:r>
          </a:p>
        </p:txBody>
      </p:sp>
      <p:cxnSp>
        <p:nvCxnSpPr>
          <p:cNvPr id="23" name="Connector 22"/>
          <p:cNvCxnSpPr/>
          <p:nvPr/>
        </p:nvCxnSpPr>
        <p:spPr>
          <a:xfrm flipH="1">
            <a:off x="3474720" y="3840480"/>
            <a:ext cx="1417320" cy="1371600"/>
          </a:xfrm>
          <a:prstGeom prst="line">
            <a:avLst/>
          </a:prstGeom>
          <a:ln w="20320">
            <a:solidFill>
              <a:srgbClr val="7A8BA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319625" y="4160520"/>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M</a:t>
            </a:r>
          </a:p>
        </p:txBody>
      </p:sp>
      <p:sp>
        <p:nvSpPr>
          <p:cNvPr id="25" name="Oval 24"/>
          <p:cNvSpPr/>
          <p:nvPr/>
        </p:nvSpPr>
        <p:spPr>
          <a:xfrm>
            <a:off x="3809390" y="4654296"/>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1</a:t>
            </a:r>
          </a:p>
        </p:txBody>
      </p:sp>
      <p:cxnSp>
        <p:nvCxnSpPr>
          <p:cNvPr id="26" name="Connector 25"/>
          <p:cNvCxnSpPr/>
          <p:nvPr/>
        </p:nvCxnSpPr>
        <p:spPr>
          <a:xfrm>
            <a:off x="3474720" y="5349240"/>
            <a:ext cx="2651760" cy="0"/>
          </a:xfrm>
          <a:prstGeom prst="line">
            <a:avLst/>
          </a:prstGeom>
          <a:ln w="20320">
            <a:solidFill>
              <a:srgbClr val="7A8BA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204411" y="5230368"/>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M</a:t>
            </a:r>
          </a:p>
        </p:txBody>
      </p:sp>
      <p:sp>
        <p:nvSpPr>
          <p:cNvPr id="28" name="Oval 27"/>
          <p:cNvSpPr/>
          <p:nvPr/>
        </p:nvSpPr>
        <p:spPr>
          <a:xfrm>
            <a:off x="5159044" y="5230368"/>
            <a:ext cx="237744" cy="237744"/>
          </a:xfrm>
          <a:prstGeom prst="ellipse">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ED7D31"/>
                </a:solidFill>
                <a:latin typeface="Consolas"/>
              </a:rP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Relationships Explained</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The five foreign-key links in words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6</a:t>
            </a:r>
          </a:p>
        </p:txBody>
      </p:sp>
      <p:sp>
        <p:nvSpPr>
          <p:cNvPr id="8" name="Rounded Rectangle 7"/>
          <p:cNvSpPr/>
          <p:nvPr/>
        </p:nvSpPr>
        <p:spPr>
          <a:xfrm>
            <a:off x="822960" y="1234440"/>
            <a:ext cx="10515600" cy="86868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325880"/>
            <a:ext cx="4937760" cy="685800"/>
          </a:xfrm>
          <a:prstGeom prst="rect">
            <a:avLst/>
          </a:prstGeom>
          <a:noFill/>
        </p:spPr>
        <p:txBody>
          <a:bodyPr wrap="square">
            <a:spAutoFit/>
          </a:bodyPr>
          <a:lstStyle/>
          <a:p>
            <a:pPr algn="l">
              <a:spcAft>
                <a:spcPts val="0"/>
              </a:spcAft>
            </a:pPr>
            <a:r>
              <a:rPr sz="1600" b="1">
                <a:solidFill>
                  <a:srgbClr val="1F3864"/>
                </a:solidFill>
                <a:latin typeface="Consolas"/>
              </a:rPr>
              <a:t>Categories  1 ─── M  Products</a:t>
            </a:r>
          </a:p>
        </p:txBody>
      </p:sp>
      <p:sp>
        <p:nvSpPr>
          <p:cNvPr id="10" name="TextBox 9"/>
          <p:cNvSpPr txBox="1"/>
          <p:nvPr/>
        </p:nvSpPr>
        <p:spPr>
          <a:xfrm>
            <a:off x="6217920" y="1325880"/>
            <a:ext cx="4937760" cy="685800"/>
          </a:xfrm>
          <a:prstGeom prst="rect">
            <a:avLst/>
          </a:prstGeom>
          <a:noFill/>
        </p:spPr>
        <p:txBody>
          <a:bodyPr wrap="square">
            <a:spAutoFit/>
          </a:bodyPr>
          <a:lstStyle/>
          <a:p>
            <a:pPr algn="l">
              <a:spcAft>
                <a:spcPts val="0"/>
              </a:spcAft>
            </a:pPr>
            <a:r>
              <a:rPr sz="1250" b="0">
                <a:solidFill>
                  <a:srgbClr val="333333"/>
                </a:solidFill>
                <a:latin typeface="Calibri"/>
              </a:rPr>
              <a:t>One category holds many products; every product belongs to exactly one category.</a:t>
            </a:r>
          </a:p>
        </p:txBody>
      </p:sp>
      <p:sp>
        <p:nvSpPr>
          <p:cNvPr id="11" name="Rounded Rectangle 10"/>
          <p:cNvSpPr/>
          <p:nvPr/>
        </p:nvSpPr>
        <p:spPr>
          <a:xfrm>
            <a:off x="822960" y="2240280"/>
            <a:ext cx="10515600" cy="86868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31720"/>
            <a:ext cx="4937760" cy="685800"/>
          </a:xfrm>
          <a:prstGeom prst="rect">
            <a:avLst/>
          </a:prstGeom>
          <a:noFill/>
        </p:spPr>
        <p:txBody>
          <a:bodyPr wrap="square">
            <a:spAutoFit/>
          </a:bodyPr>
          <a:lstStyle/>
          <a:p>
            <a:pPr algn="l">
              <a:spcAft>
                <a:spcPts val="0"/>
              </a:spcAft>
            </a:pPr>
            <a:r>
              <a:rPr sz="1600" b="1">
                <a:solidFill>
                  <a:srgbClr val="1F3864"/>
                </a:solidFill>
                <a:latin typeface="Consolas"/>
              </a:rPr>
              <a:t>Suppliers   1 ─── M  Products</a:t>
            </a:r>
          </a:p>
        </p:txBody>
      </p:sp>
      <p:sp>
        <p:nvSpPr>
          <p:cNvPr id="13" name="TextBox 12"/>
          <p:cNvSpPr txBox="1"/>
          <p:nvPr/>
        </p:nvSpPr>
        <p:spPr>
          <a:xfrm>
            <a:off x="6217920" y="2331720"/>
            <a:ext cx="4937760" cy="685800"/>
          </a:xfrm>
          <a:prstGeom prst="rect">
            <a:avLst/>
          </a:prstGeom>
          <a:noFill/>
        </p:spPr>
        <p:txBody>
          <a:bodyPr wrap="square">
            <a:spAutoFit/>
          </a:bodyPr>
          <a:lstStyle/>
          <a:p>
            <a:pPr algn="l">
              <a:spcAft>
                <a:spcPts val="0"/>
              </a:spcAft>
            </a:pPr>
            <a:r>
              <a:rPr sz="1250" b="0">
                <a:solidFill>
                  <a:srgbClr val="333333"/>
                </a:solidFill>
                <a:latin typeface="Calibri"/>
              </a:rPr>
              <a:t>One supplier provides many products; each product has one supplier.</a:t>
            </a:r>
          </a:p>
        </p:txBody>
      </p:sp>
      <p:sp>
        <p:nvSpPr>
          <p:cNvPr id="14" name="Rounded Rectangle 13"/>
          <p:cNvSpPr/>
          <p:nvPr/>
        </p:nvSpPr>
        <p:spPr>
          <a:xfrm>
            <a:off x="822960" y="3246120"/>
            <a:ext cx="10515600" cy="86868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4937760" cy="685800"/>
          </a:xfrm>
          <a:prstGeom prst="rect">
            <a:avLst/>
          </a:prstGeom>
          <a:noFill/>
        </p:spPr>
        <p:txBody>
          <a:bodyPr wrap="square">
            <a:spAutoFit/>
          </a:bodyPr>
          <a:lstStyle/>
          <a:p>
            <a:pPr algn="l">
              <a:spcAft>
                <a:spcPts val="0"/>
              </a:spcAft>
            </a:pPr>
            <a:r>
              <a:rPr sz="1600" b="1">
                <a:solidFill>
                  <a:srgbClr val="1F3864"/>
                </a:solidFill>
                <a:latin typeface="Consolas"/>
              </a:rPr>
              <a:t>Customers   1 ─── M  Bills</a:t>
            </a:r>
          </a:p>
        </p:txBody>
      </p:sp>
      <p:sp>
        <p:nvSpPr>
          <p:cNvPr id="16" name="TextBox 15"/>
          <p:cNvSpPr txBox="1"/>
          <p:nvPr/>
        </p:nvSpPr>
        <p:spPr>
          <a:xfrm>
            <a:off x="6217920" y="3337560"/>
            <a:ext cx="4937760" cy="685800"/>
          </a:xfrm>
          <a:prstGeom prst="rect">
            <a:avLst/>
          </a:prstGeom>
          <a:noFill/>
        </p:spPr>
        <p:txBody>
          <a:bodyPr wrap="square">
            <a:spAutoFit/>
          </a:bodyPr>
          <a:lstStyle/>
          <a:p>
            <a:pPr algn="l">
              <a:spcAft>
                <a:spcPts val="0"/>
              </a:spcAft>
            </a:pPr>
            <a:r>
              <a:rPr sz="1250" b="0">
                <a:solidFill>
                  <a:srgbClr val="333333"/>
                </a:solidFill>
                <a:latin typeface="Calibri"/>
              </a:rPr>
              <a:t>One customer creates many bills; every bill belongs to one customer.</a:t>
            </a:r>
          </a:p>
        </p:txBody>
      </p:sp>
      <p:sp>
        <p:nvSpPr>
          <p:cNvPr id="17" name="Rounded Rectangle 16"/>
          <p:cNvSpPr/>
          <p:nvPr/>
        </p:nvSpPr>
        <p:spPr>
          <a:xfrm>
            <a:off x="822960" y="4251960"/>
            <a:ext cx="10515600" cy="86868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343400"/>
            <a:ext cx="4937760" cy="685800"/>
          </a:xfrm>
          <a:prstGeom prst="rect">
            <a:avLst/>
          </a:prstGeom>
          <a:noFill/>
        </p:spPr>
        <p:txBody>
          <a:bodyPr wrap="square">
            <a:spAutoFit/>
          </a:bodyPr>
          <a:lstStyle/>
          <a:p>
            <a:pPr algn="l">
              <a:spcAft>
                <a:spcPts val="0"/>
              </a:spcAft>
            </a:pPr>
            <a:r>
              <a:rPr sz="1600" b="1">
                <a:solidFill>
                  <a:srgbClr val="1F3864"/>
                </a:solidFill>
                <a:latin typeface="Consolas"/>
              </a:rPr>
              <a:t>Bills       1 ─── M  BillItems</a:t>
            </a:r>
          </a:p>
        </p:txBody>
      </p:sp>
      <p:sp>
        <p:nvSpPr>
          <p:cNvPr id="19" name="TextBox 18"/>
          <p:cNvSpPr txBox="1"/>
          <p:nvPr/>
        </p:nvSpPr>
        <p:spPr>
          <a:xfrm>
            <a:off x="6217920" y="4343400"/>
            <a:ext cx="4937760" cy="685800"/>
          </a:xfrm>
          <a:prstGeom prst="rect">
            <a:avLst/>
          </a:prstGeom>
          <a:noFill/>
        </p:spPr>
        <p:txBody>
          <a:bodyPr wrap="square">
            <a:spAutoFit/>
          </a:bodyPr>
          <a:lstStyle/>
          <a:p>
            <a:pPr algn="l">
              <a:spcAft>
                <a:spcPts val="0"/>
              </a:spcAft>
            </a:pPr>
            <a:r>
              <a:rPr sz="1250" b="0">
                <a:solidFill>
                  <a:srgbClr val="333333"/>
                </a:solidFill>
                <a:latin typeface="Calibri"/>
              </a:rPr>
              <a:t>One bill has many lines; each line belongs to one bill.</a:t>
            </a:r>
          </a:p>
        </p:txBody>
      </p:sp>
      <p:sp>
        <p:nvSpPr>
          <p:cNvPr id="20" name="Rounded Rectangle 19"/>
          <p:cNvSpPr/>
          <p:nvPr/>
        </p:nvSpPr>
        <p:spPr>
          <a:xfrm>
            <a:off x="822960" y="5257800"/>
            <a:ext cx="10515600" cy="86868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349240"/>
            <a:ext cx="4937760" cy="685800"/>
          </a:xfrm>
          <a:prstGeom prst="rect">
            <a:avLst/>
          </a:prstGeom>
          <a:noFill/>
        </p:spPr>
        <p:txBody>
          <a:bodyPr wrap="square">
            <a:spAutoFit/>
          </a:bodyPr>
          <a:lstStyle/>
          <a:p>
            <a:pPr algn="l">
              <a:spcAft>
                <a:spcPts val="0"/>
              </a:spcAft>
            </a:pPr>
            <a:r>
              <a:rPr sz="1600" b="1">
                <a:solidFill>
                  <a:srgbClr val="1F3864"/>
                </a:solidFill>
                <a:latin typeface="Consolas"/>
              </a:rPr>
              <a:t>Products    1 ─── M  BillItems</a:t>
            </a:r>
          </a:p>
        </p:txBody>
      </p:sp>
      <p:sp>
        <p:nvSpPr>
          <p:cNvPr id="22" name="TextBox 21"/>
          <p:cNvSpPr txBox="1"/>
          <p:nvPr/>
        </p:nvSpPr>
        <p:spPr>
          <a:xfrm>
            <a:off x="6217920" y="5349240"/>
            <a:ext cx="4937760" cy="685800"/>
          </a:xfrm>
          <a:prstGeom prst="rect">
            <a:avLst/>
          </a:prstGeom>
          <a:noFill/>
        </p:spPr>
        <p:txBody>
          <a:bodyPr wrap="square">
            <a:spAutoFit/>
          </a:bodyPr>
          <a:lstStyle/>
          <a:p>
            <a:pPr algn="l">
              <a:spcAft>
                <a:spcPts val="0"/>
              </a:spcAft>
            </a:pPr>
            <a:r>
              <a:rPr sz="1250" b="0">
                <a:solidFill>
                  <a:srgbClr val="333333"/>
                </a:solidFill>
                <a:latin typeface="Calibri"/>
              </a:rPr>
              <a:t>One product appears in many bills — BillItems resolves the many-to-many link.</a:t>
            </a:r>
          </a:p>
        </p:txBody>
      </p:sp>
      <p:sp>
        <p:nvSpPr>
          <p:cNvPr id="23" name="TextBox 22"/>
          <p:cNvSpPr txBox="1"/>
          <p:nvPr/>
        </p:nvSpPr>
        <p:spPr>
          <a:xfrm>
            <a:off x="822960" y="6309360"/>
            <a:ext cx="10515600" cy="365760"/>
          </a:xfrm>
          <a:prstGeom prst="rect">
            <a:avLst/>
          </a:prstGeom>
          <a:noFill/>
        </p:spPr>
        <p:txBody>
          <a:bodyPr wrap="square">
            <a:spAutoFit/>
          </a:bodyPr>
          <a:lstStyle/>
          <a:p>
            <a:pPr algn="l">
              <a:spcAft>
                <a:spcPts val="0"/>
              </a:spcAft>
            </a:pPr>
            <a:r>
              <a:rPr sz="1250" b="0">
                <a:solidFill>
                  <a:srgbClr val="6E7582"/>
                </a:solidFill>
                <a:latin typeface="Calibri"/>
              </a:rPr>
              <a:t>Every link is enforced by a FOREIGN KEY constraint — invalid data is rejected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Table Structures (1/2)</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Categories • Suppliers • Products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7</a:t>
            </a:r>
          </a:p>
        </p:txBody>
      </p:sp>
      <p:sp>
        <p:nvSpPr>
          <p:cNvPr id="8" name="TextBox 7"/>
          <p:cNvSpPr txBox="1"/>
          <p:nvPr/>
        </p:nvSpPr>
        <p:spPr>
          <a:xfrm>
            <a:off x="822960" y="1280160"/>
            <a:ext cx="3429000" cy="320040"/>
          </a:xfrm>
          <a:prstGeom prst="rect">
            <a:avLst/>
          </a:prstGeom>
          <a:noFill/>
        </p:spPr>
        <p:txBody>
          <a:bodyPr wrap="square">
            <a:spAutoFit/>
          </a:bodyPr>
          <a:lstStyle/>
          <a:p>
            <a:pPr algn="l">
              <a:spcAft>
                <a:spcPts val="0"/>
              </a:spcAft>
            </a:pPr>
            <a:r>
              <a:rPr sz="1500" b="1">
                <a:solidFill>
                  <a:srgbClr val="1F3864"/>
                </a:solidFill>
                <a:latin typeface="Calibri"/>
              </a:rPr>
              <a:t>Categories</a:t>
            </a:r>
          </a:p>
        </p:txBody>
      </p:sp>
      <p:graphicFrame>
        <p:nvGraphicFramePr>
          <p:cNvPr id="9" name="Table 8"/>
          <p:cNvGraphicFramePr>
            <a:graphicFrameLocks noGrp="1"/>
          </p:cNvGraphicFramePr>
          <p:nvPr/>
        </p:nvGraphicFramePr>
        <p:xfrm>
          <a:off x="822960" y="1664207"/>
          <a:ext cx="3429000" cy="822960"/>
        </p:xfrm>
        <a:graphic>
          <a:graphicData uri="http://schemas.openxmlformats.org/drawingml/2006/table">
            <a:tbl>
              <a:tblPr firstRow="1" bandRow="1">
                <a:tableStyleId>{5C22544A-7EE6-4342-B048-85BDC9FD1C3A}</a:tableStyleId>
              </a:tblPr>
              <a:tblGrid>
                <a:gridCol w="1143000"/>
                <a:gridCol w="1143000"/>
                <a:gridCol w="1143000"/>
              </a:tblGrid>
              <a:tr h="274320">
                <a:tc>
                  <a:txBody>
                    <a:bodyPr wrap="square"/>
                    <a:lstStyle/>
                    <a:p>
                      <a:r>
                        <a:rPr sz="950" b="1">
                          <a:solidFill>
                            <a:srgbClr val="FFFFFF"/>
                          </a:solidFill>
                          <a:latin typeface="Calibri"/>
                        </a:rPr>
                        <a:t>Column</a:t>
                      </a:r>
                    </a:p>
                  </a:txBody>
                  <a:tcPr marT="12700" marB="12700" marL="88900" marR="63500">
                    <a:solidFill>
                      <a:srgbClr val="1F3864"/>
                    </a:solidFill>
                  </a:tcPr>
                </a:tc>
                <a:tc>
                  <a:txBody>
                    <a:bodyPr wrap="square"/>
                    <a:lstStyle/>
                    <a:p>
                      <a:r>
                        <a:rPr sz="950" b="1">
                          <a:solidFill>
                            <a:srgbClr val="FFFFFF"/>
                          </a:solidFill>
                          <a:latin typeface="Calibri"/>
                        </a:rPr>
                        <a:t>Type</a:t>
                      </a:r>
                    </a:p>
                  </a:txBody>
                  <a:tcPr marT="12700" marB="12700" marL="88900" marR="63500">
                    <a:solidFill>
                      <a:srgbClr val="1F3864"/>
                    </a:solidFill>
                  </a:tcPr>
                </a:tc>
                <a:tc>
                  <a:txBody>
                    <a:bodyPr wrap="square"/>
                    <a:lstStyle/>
                    <a:p>
                      <a:r>
                        <a:rPr sz="950" b="1">
                          <a:solidFill>
                            <a:srgbClr val="FFFFFF"/>
                          </a:solidFill>
                          <a:latin typeface="Calibri"/>
                        </a:rPr>
                        <a:t>Key</a:t>
                      </a:r>
                    </a:p>
                  </a:txBody>
                  <a:tcPr marT="12700" marB="12700" marL="88900" marR="63500">
                    <a:solidFill>
                      <a:srgbClr val="1F3864"/>
                    </a:solidFill>
                  </a:tcPr>
                </a:tc>
              </a:tr>
              <a:tr h="274320">
                <a:tc>
                  <a:txBody>
                    <a:bodyPr wrap="square"/>
                    <a:lstStyle/>
                    <a:p>
                      <a:r>
                        <a:rPr sz="950" b="0">
                          <a:solidFill>
                            <a:srgbClr val="333333"/>
                          </a:solidFill>
                          <a:latin typeface="Calibri"/>
                        </a:rPr>
                        <a:t>CategoryID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PRIMARY KEY</a:t>
                      </a:r>
                    </a:p>
                  </a:txBody>
                  <a:tcPr marT="12700" marB="12700" marL="88900" marR="63500">
                    <a:solidFill>
                      <a:srgbClr val="FFFFFF"/>
                    </a:solidFill>
                  </a:tcPr>
                </a:tc>
              </a:tr>
              <a:tr h="274320">
                <a:tc>
                  <a:txBody>
                    <a:bodyPr wrap="square"/>
                    <a:lstStyle/>
                    <a:p>
                      <a:r>
                        <a:rPr sz="950" b="0">
                          <a:solidFill>
                            <a:srgbClr val="333333"/>
                          </a:solidFill>
                          <a:latin typeface="Calibri"/>
                        </a:rPr>
                        <a:t>CategoryName</a:t>
                      </a:r>
                    </a:p>
                  </a:txBody>
                  <a:tcPr marT="12700" marB="12700" marL="88900" marR="63500">
                    <a:solidFill>
                      <a:srgbClr val="F2F4F8"/>
                    </a:solidFill>
                  </a:tcPr>
                </a:tc>
                <a:tc>
                  <a:txBody>
                    <a:bodyPr wrap="square"/>
                    <a:lstStyle/>
                    <a:p>
                      <a:r>
                        <a:rPr sz="950" b="0">
                          <a:solidFill>
                            <a:srgbClr val="333333"/>
                          </a:solidFill>
                          <a:latin typeface="Calibri"/>
                        </a:rPr>
                        <a:t>VARCHAR2(50)</a:t>
                      </a:r>
                    </a:p>
                  </a:txBody>
                  <a:tcPr marT="12700" marB="12700" marL="88900" marR="63500">
                    <a:solidFill>
                      <a:srgbClr val="F2F4F8"/>
                    </a:solidFill>
                  </a:tcPr>
                </a:tc>
                <a:tc>
                  <a:txBody>
                    <a:bodyPr wrap="square"/>
                    <a:lstStyle/>
                    <a:p>
                      <a:r>
                        <a:rPr sz="950" b="0">
                          <a:solidFill>
                            <a:srgbClr val="333333"/>
                          </a:solidFill>
                          <a:latin typeface="Calibri"/>
                        </a:rPr>
                        <a:t>NOT NULL</a:t>
                      </a:r>
                    </a:p>
                  </a:txBody>
                  <a:tcPr marT="12700" marB="12700" marL="88900" marR="63500">
                    <a:solidFill>
                      <a:srgbClr val="F2F4F8"/>
                    </a:solidFill>
                  </a:tcPr>
                </a:tc>
              </a:tr>
            </a:tbl>
          </a:graphicData>
        </a:graphic>
      </p:graphicFrame>
      <p:sp>
        <p:nvSpPr>
          <p:cNvPr id="10" name="TextBox 9"/>
          <p:cNvSpPr txBox="1"/>
          <p:nvPr/>
        </p:nvSpPr>
        <p:spPr>
          <a:xfrm>
            <a:off x="822960" y="2596896"/>
            <a:ext cx="3429000" cy="685800"/>
          </a:xfrm>
          <a:prstGeom prst="rect">
            <a:avLst/>
          </a:prstGeom>
          <a:noFill/>
        </p:spPr>
        <p:txBody>
          <a:bodyPr wrap="square">
            <a:spAutoFit/>
          </a:bodyPr>
          <a:lstStyle/>
          <a:p>
            <a:pPr algn="l">
              <a:spcAft>
                <a:spcPts val="0"/>
              </a:spcAft>
            </a:pPr>
            <a:r>
              <a:rPr sz="950" b="0">
                <a:solidFill>
                  <a:srgbClr val="6E7582"/>
                </a:solidFill>
                <a:latin typeface="Calibri"/>
              </a:rPr>
              <a:t>Lookup table — every product references one CategoryID.</a:t>
            </a:r>
          </a:p>
        </p:txBody>
      </p:sp>
      <p:sp>
        <p:nvSpPr>
          <p:cNvPr id="11" name="TextBox 10"/>
          <p:cNvSpPr txBox="1"/>
          <p:nvPr/>
        </p:nvSpPr>
        <p:spPr>
          <a:xfrm>
            <a:off x="4343400" y="1280160"/>
            <a:ext cx="3429000" cy="320040"/>
          </a:xfrm>
          <a:prstGeom prst="rect">
            <a:avLst/>
          </a:prstGeom>
          <a:noFill/>
        </p:spPr>
        <p:txBody>
          <a:bodyPr wrap="square">
            <a:spAutoFit/>
          </a:bodyPr>
          <a:lstStyle/>
          <a:p>
            <a:pPr algn="l">
              <a:spcAft>
                <a:spcPts val="0"/>
              </a:spcAft>
            </a:pPr>
            <a:r>
              <a:rPr sz="1500" b="1">
                <a:solidFill>
                  <a:srgbClr val="1F3864"/>
                </a:solidFill>
                <a:latin typeface="Calibri"/>
              </a:rPr>
              <a:t>Suppliers</a:t>
            </a:r>
          </a:p>
        </p:txBody>
      </p:sp>
      <p:graphicFrame>
        <p:nvGraphicFramePr>
          <p:cNvPr id="12" name="Table 11"/>
          <p:cNvGraphicFramePr>
            <a:graphicFrameLocks noGrp="1"/>
          </p:cNvGraphicFramePr>
          <p:nvPr/>
        </p:nvGraphicFramePr>
        <p:xfrm>
          <a:off x="4343400" y="1664207"/>
          <a:ext cx="3429000" cy="1097280"/>
        </p:xfrm>
        <a:graphic>
          <a:graphicData uri="http://schemas.openxmlformats.org/drawingml/2006/table">
            <a:tbl>
              <a:tblPr firstRow="1" bandRow="1">
                <a:tableStyleId>{5C22544A-7EE6-4342-B048-85BDC9FD1C3A}</a:tableStyleId>
              </a:tblPr>
              <a:tblGrid>
                <a:gridCol w="1143000"/>
                <a:gridCol w="1143000"/>
                <a:gridCol w="1143000"/>
              </a:tblGrid>
              <a:tr h="274320">
                <a:tc>
                  <a:txBody>
                    <a:bodyPr wrap="square"/>
                    <a:lstStyle/>
                    <a:p>
                      <a:r>
                        <a:rPr sz="950" b="1">
                          <a:solidFill>
                            <a:srgbClr val="FFFFFF"/>
                          </a:solidFill>
                          <a:latin typeface="Calibri"/>
                        </a:rPr>
                        <a:t>Column</a:t>
                      </a:r>
                    </a:p>
                  </a:txBody>
                  <a:tcPr marT="12700" marB="12700" marL="88900" marR="63500">
                    <a:solidFill>
                      <a:srgbClr val="1F3864"/>
                    </a:solidFill>
                  </a:tcPr>
                </a:tc>
                <a:tc>
                  <a:txBody>
                    <a:bodyPr wrap="square"/>
                    <a:lstStyle/>
                    <a:p>
                      <a:r>
                        <a:rPr sz="950" b="1">
                          <a:solidFill>
                            <a:srgbClr val="FFFFFF"/>
                          </a:solidFill>
                          <a:latin typeface="Calibri"/>
                        </a:rPr>
                        <a:t>Type</a:t>
                      </a:r>
                    </a:p>
                  </a:txBody>
                  <a:tcPr marT="12700" marB="12700" marL="88900" marR="63500">
                    <a:solidFill>
                      <a:srgbClr val="1F3864"/>
                    </a:solidFill>
                  </a:tcPr>
                </a:tc>
                <a:tc>
                  <a:txBody>
                    <a:bodyPr wrap="square"/>
                    <a:lstStyle/>
                    <a:p>
                      <a:r>
                        <a:rPr sz="950" b="1">
                          <a:solidFill>
                            <a:srgbClr val="FFFFFF"/>
                          </a:solidFill>
                          <a:latin typeface="Calibri"/>
                        </a:rPr>
                        <a:t>Key</a:t>
                      </a:r>
                    </a:p>
                  </a:txBody>
                  <a:tcPr marT="12700" marB="12700" marL="88900" marR="63500">
                    <a:solidFill>
                      <a:srgbClr val="1F3864"/>
                    </a:solidFill>
                  </a:tcPr>
                </a:tc>
              </a:tr>
              <a:tr h="274320">
                <a:tc>
                  <a:txBody>
                    <a:bodyPr wrap="square"/>
                    <a:lstStyle/>
                    <a:p>
                      <a:r>
                        <a:rPr sz="950" b="0">
                          <a:solidFill>
                            <a:srgbClr val="333333"/>
                          </a:solidFill>
                          <a:latin typeface="Calibri"/>
                        </a:rPr>
                        <a:t>SupplierID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PRIMARY KEY</a:t>
                      </a:r>
                    </a:p>
                  </a:txBody>
                  <a:tcPr marT="12700" marB="12700" marL="88900" marR="63500">
                    <a:solidFill>
                      <a:srgbClr val="FFFFFF"/>
                    </a:solidFill>
                  </a:tcPr>
                </a:tc>
              </a:tr>
              <a:tr h="274320">
                <a:tc>
                  <a:txBody>
                    <a:bodyPr wrap="square"/>
                    <a:lstStyle/>
                    <a:p>
                      <a:r>
                        <a:rPr sz="950" b="0">
                          <a:solidFill>
                            <a:srgbClr val="333333"/>
                          </a:solidFill>
                          <a:latin typeface="Calibri"/>
                        </a:rPr>
                        <a:t>SupplierName</a:t>
                      </a:r>
                    </a:p>
                  </a:txBody>
                  <a:tcPr marT="12700" marB="12700" marL="88900" marR="63500">
                    <a:solidFill>
                      <a:srgbClr val="F2F4F8"/>
                    </a:solidFill>
                  </a:tcPr>
                </a:tc>
                <a:tc>
                  <a:txBody>
                    <a:bodyPr wrap="square"/>
                    <a:lstStyle/>
                    <a:p>
                      <a:r>
                        <a:rPr sz="950" b="0">
                          <a:solidFill>
                            <a:srgbClr val="333333"/>
                          </a:solidFill>
                          <a:latin typeface="Calibri"/>
                        </a:rPr>
                        <a:t>VARCHAR2(100)</a:t>
                      </a:r>
                    </a:p>
                  </a:txBody>
                  <a:tcPr marT="12700" marB="12700" marL="88900" marR="63500">
                    <a:solidFill>
                      <a:srgbClr val="F2F4F8"/>
                    </a:solidFill>
                  </a:tcPr>
                </a:tc>
                <a:tc>
                  <a:txBody>
                    <a:bodyPr wrap="square"/>
                    <a:lstStyle/>
                    <a:p>
                      <a:r>
                        <a:rPr sz="950" b="0">
                          <a:solidFill>
                            <a:srgbClr val="333333"/>
                          </a:solidFill>
                          <a:latin typeface="Calibri"/>
                        </a:rPr>
                        <a:t>NOT NULL</a:t>
                      </a:r>
                    </a:p>
                  </a:txBody>
                  <a:tcPr marT="12700" marB="12700" marL="88900" marR="63500">
                    <a:solidFill>
                      <a:srgbClr val="F2F4F8"/>
                    </a:solidFill>
                  </a:tcPr>
                </a:tc>
              </a:tr>
              <a:tr h="274320">
                <a:tc>
                  <a:txBody>
                    <a:bodyPr wrap="square"/>
                    <a:lstStyle/>
                    <a:p>
                      <a:r>
                        <a:rPr sz="950" b="0">
                          <a:solidFill>
                            <a:srgbClr val="333333"/>
                          </a:solidFill>
                          <a:latin typeface="Calibri"/>
                        </a:rPr>
                        <a:t>Phone</a:t>
                      </a:r>
                    </a:p>
                  </a:txBody>
                  <a:tcPr marT="12700" marB="12700" marL="88900" marR="63500">
                    <a:solidFill>
                      <a:srgbClr val="FFFFFF"/>
                    </a:solidFill>
                  </a:tcPr>
                </a:tc>
                <a:tc>
                  <a:txBody>
                    <a:bodyPr wrap="square"/>
                    <a:lstStyle/>
                    <a:p>
                      <a:r>
                        <a:rPr sz="950" b="0">
                          <a:solidFill>
                            <a:srgbClr val="333333"/>
                          </a:solidFill>
                          <a:latin typeface="Calibri"/>
                        </a:rPr>
                        <a:t>VARCHAR2(15)</a:t>
                      </a:r>
                    </a:p>
                  </a:txBody>
                  <a:tcPr marT="12700" marB="12700" marL="88900" marR="63500">
                    <a:solidFill>
                      <a:srgbClr val="FFFFFF"/>
                    </a:solidFill>
                  </a:tcPr>
                </a:tc>
                <a:tc>
                  <a:txBody>
                    <a:bodyPr wrap="square"/>
                    <a:lstStyle/>
                    <a:p>
                      <a:r>
                        <a:rPr sz="950" b="0">
                          <a:solidFill>
                            <a:srgbClr val="333333"/>
                          </a:solidFill>
                          <a:latin typeface="Calibri"/>
                        </a:rPr>
                        <a:t>—</a:t>
                      </a:r>
                    </a:p>
                  </a:txBody>
                  <a:tcPr marT="12700" marB="12700" marL="88900" marR="63500">
                    <a:solidFill>
                      <a:srgbClr val="FFFFFF"/>
                    </a:solidFill>
                  </a:tcPr>
                </a:tc>
              </a:tr>
            </a:tbl>
          </a:graphicData>
        </a:graphic>
      </p:graphicFrame>
      <p:sp>
        <p:nvSpPr>
          <p:cNvPr id="13" name="TextBox 12"/>
          <p:cNvSpPr txBox="1"/>
          <p:nvPr/>
        </p:nvSpPr>
        <p:spPr>
          <a:xfrm>
            <a:off x="4343400" y="2871215"/>
            <a:ext cx="3429000" cy="685800"/>
          </a:xfrm>
          <a:prstGeom prst="rect">
            <a:avLst/>
          </a:prstGeom>
          <a:noFill/>
        </p:spPr>
        <p:txBody>
          <a:bodyPr wrap="square">
            <a:spAutoFit/>
          </a:bodyPr>
          <a:lstStyle/>
          <a:p>
            <a:pPr algn="l">
              <a:spcAft>
                <a:spcPts val="0"/>
              </a:spcAft>
            </a:pPr>
            <a:r>
              <a:rPr sz="950" b="0">
                <a:solidFill>
                  <a:srgbClr val="6E7582"/>
                </a:solidFill>
                <a:latin typeface="Calibri"/>
              </a:rPr>
              <a:t>No separate supplier-products table is needed — Products keeps a SupplierID.</a:t>
            </a:r>
          </a:p>
        </p:txBody>
      </p:sp>
      <p:sp>
        <p:nvSpPr>
          <p:cNvPr id="14" name="TextBox 13"/>
          <p:cNvSpPr txBox="1"/>
          <p:nvPr/>
        </p:nvSpPr>
        <p:spPr>
          <a:xfrm>
            <a:off x="7863840" y="1280160"/>
            <a:ext cx="3429000" cy="320040"/>
          </a:xfrm>
          <a:prstGeom prst="rect">
            <a:avLst/>
          </a:prstGeom>
          <a:noFill/>
        </p:spPr>
        <p:txBody>
          <a:bodyPr wrap="square">
            <a:spAutoFit/>
          </a:bodyPr>
          <a:lstStyle/>
          <a:p>
            <a:pPr algn="l">
              <a:spcAft>
                <a:spcPts val="0"/>
              </a:spcAft>
            </a:pPr>
            <a:r>
              <a:rPr sz="1500" b="1">
                <a:solidFill>
                  <a:srgbClr val="1F3864"/>
                </a:solidFill>
                <a:latin typeface="Calibri"/>
              </a:rPr>
              <a:t>Products</a:t>
            </a:r>
          </a:p>
        </p:txBody>
      </p:sp>
      <p:graphicFrame>
        <p:nvGraphicFramePr>
          <p:cNvPr id="15" name="Table 14"/>
          <p:cNvGraphicFramePr>
            <a:graphicFrameLocks noGrp="1"/>
          </p:cNvGraphicFramePr>
          <p:nvPr/>
        </p:nvGraphicFramePr>
        <p:xfrm>
          <a:off x="7863840" y="1664207"/>
          <a:ext cx="3429000" cy="1920240"/>
        </p:xfrm>
        <a:graphic>
          <a:graphicData uri="http://schemas.openxmlformats.org/drawingml/2006/table">
            <a:tbl>
              <a:tblPr firstRow="1" bandRow="1">
                <a:tableStyleId>{5C22544A-7EE6-4342-B048-85BDC9FD1C3A}</a:tableStyleId>
              </a:tblPr>
              <a:tblGrid>
                <a:gridCol w="1143000"/>
                <a:gridCol w="1143000"/>
                <a:gridCol w="1143000"/>
              </a:tblGrid>
              <a:tr h="274320">
                <a:tc>
                  <a:txBody>
                    <a:bodyPr wrap="square"/>
                    <a:lstStyle/>
                    <a:p>
                      <a:r>
                        <a:rPr sz="950" b="1">
                          <a:solidFill>
                            <a:srgbClr val="FFFFFF"/>
                          </a:solidFill>
                          <a:latin typeface="Calibri"/>
                        </a:rPr>
                        <a:t>Column</a:t>
                      </a:r>
                    </a:p>
                  </a:txBody>
                  <a:tcPr marT="12700" marB="12700" marL="88900" marR="63500">
                    <a:solidFill>
                      <a:srgbClr val="1F3864"/>
                    </a:solidFill>
                  </a:tcPr>
                </a:tc>
                <a:tc>
                  <a:txBody>
                    <a:bodyPr wrap="square"/>
                    <a:lstStyle/>
                    <a:p>
                      <a:r>
                        <a:rPr sz="950" b="1">
                          <a:solidFill>
                            <a:srgbClr val="FFFFFF"/>
                          </a:solidFill>
                          <a:latin typeface="Calibri"/>
                        </a:rPr>
                        <a:t>Type</a:t>
                      </a:r>
                    </a:p>
                  </a:txBody>
                  <a:tcPr marT="12700" marB="12700" marL="88900" marR="63500">
                    <a:solidFill>
                      <a:srgbClr val="1F3864"/>
                    </a:solidFill>
                  </a:tcPr>
                </a:tc>
                <a:tc>
                  <a:txBody>
                    <a:bodyPr wrap="square"/>
                    <a:lstStyle/>
                    <a:p>
                      <a:r>
                        <a:rPr sz="950" b="1">
                          <a:solidFill>
                            <a:srgbClr val="FFFFFF"/>
                          </a:solidFill>
                          <a:latin typeface="Calibri"/>
                        </a:rPr>
                        <a:t>Key</a:t>
                      </a:r>
                    </a:p>
                  </a:txBody>
                  <a:tcPr marT="12700" marB="12700" marL="88900" marR="63500">
                    <a:solidFill>
                      <a:srgbClr val="1F3864"/>
                    </a:solidFill>
                  </a:tcPr>
                </a:tc>
              </a:tr>
              <a:tr h="274320">
                <a:tc>
                  <a:txBody>
                    <a:bodyPr wrap="square"/>
                    <a:lstStyle/>
                    <a:p>
                      <a:r>
                        <a:rPr sz="950" b="0">
                          <a:solidFill>
                            <a:srgbClr val="333333"/>
                          </a:solidFill>
                          <a:latin typeface="Calibri"/>
                        </a:rPr>
                        <a:t>ProductID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PRIMARY KEY</a:t>
                      </a:r>
                    </a:p>
                  </a:txBody>
                  <a:tcPr marT="12700" marB="12700" marL="88900" marR="63500">
                    <a:solidFill>
                      <a:srgbClr val="FFFFFF"/>
                    </a:solidFill>
                  </a:tcPr>
                </a:tc>
              </a:tr>
              <a:tr h="274320">
                <a:tc>
                  <a:txBody>
                    <a:bodyPr wrap="square"/>
                    <a:lstStyle/>
                    <a:p>
                      <a:r>
                        <a:rPr sz="950" b="0">
                          <a:solidFill>
                            <a:srgbClr val="333333"/>
                          </a:solidFill>
                          <a:latin typeface="Calibri"/>
                        </a:rPr>
                        <a:t>ProductName</a:t>
                      </a:r>
                    </a:p>
                  </a:txBody>
                  <a:tcPr marT="12700" marB="12700" marL="88900" marR="63500">
                    <a:solidFill>
                      <a:srgbClr val="F2F4F8"/>
                    </a:solidFill>
                  </a:tcPr>
                </a:tc>
                <a:tc>
                  <a:txBody>
                    <a:bodyPr wrap="square"/>
                    <a:lstStyle/>
                    <a:p>
                      <a:r>
                        <a:rPr sz="950" b="0">
                          <a:solidFill>
                            <a:srgbClr val="333333"/>
                          </a:solidFill>
                          <a:latin typeface="Calibri"/>
                        </a:rPr>
                        <a:t>VARCHAR2(100)</a:t>
                      </a:r>
                    </a:p>
                  </a:txBody>
                  <a:tcPr marT="12700" marB="12700" marL="88900" marR="63500">
                    <a:solidFill>
                      <a:srgbClr val="F2F4F8"/>
                    </a:solidFill>
                  </a:tcPr>
                </a:tc>
                <a:tc>
                  <a:txBody>
                    <a:bodyPr wrap="square"/>
                    <a:lstStyle/>
                    <a:p>
                      <a:r>
                        <a:rPr sz="950" b="0">
                          <a:solidFill>
                            <a:srgbClr val="333333"/>
                          </a:solidFill>
                          <a:latin typeface="Calibri"/>
                        </a:rPr>
                        <a:t>NOT NULL</a:t>
                      </a:r>
                    </a:p>
                  </a:txBody>
                  <a:tcPr marT="12700" marB="12700" marL="88900" marR="63500">
                    <a:solidFill>
                      <a:srgbClr val="F2F4F8"/>
                    </a:solidFill>
                  </a:tcPr>
                </a:tc>
              </a:tr>
              <a:tr h="274320">
                <a:tc>
                  <a:txBody>
                    <a:bodyPr wrap="square"/>
                    <a:lstStyle/>
                    <a:p>
                      <a:r>
                        <a:rPr sz="950" b="0">
                          <a:solidFill>
                            <a:srgbClr val="333333"/>
                          </a:solidFill>
                          <a:latin typeface="Calibri"/>
                        </a:rPr>
                        <a:t>CategoryID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FK → Categories</a:t>
                      </a:r>
                    </a:p>
                  </a:txBody>
                  <a:tcPr marT="12700" marB="12700" marL="88900" marR="63500">
                    <a:solidFill>
                      <a:srgbClr val="FFFFFF"/>
                    </a:solidFill>
                  </a:tcPr>
                </a:tc>
              </a:tr>
              <a:tr h="274320">
                <a:tc>
                  <a:txBody>
                    <a:bodyPr wrap="square"/>
                    <a:lstStyle/>
                    <a:p>
                      <a:r>
                        <a:rPr sz="950" b="0">
                          <a:solidFill>
                            <a:srgbClr val="333333"/>
                          </a:solidFill>
                          <a:latin typeface="Calibri"/>
                        </a:rPr>
                        <a:t>SupplierID</a:t>
                      </a:r>
                    </a:p>
                  </a:txBody>
                  <a:tcPr marT="12700" marB="12700" marL="88900" marR="63500">
                    <a:solidFill>
                      <a:srgbClr val="F2F4F8"/>
                    </a:solidFill>
                  </a:tcPr>
                </a:tc>
                <a:tc>
                  <a:txBody>
                    <a:bodyPr wrap="square"/>
                    <a:lstStyle/>
                    <a:p>
                      <a:r>
                        <a:rPr sz="950" b="0">
                          <a:solidFill>
                            <a:srgbClr val="333333"/>
                          </a:solidFill>
                          <a:latin typeface="Calibri"/>
                        </a:rPr>
                        <a:t>NUMBER(4)</a:t>
                      </a:r>
                    </a:p>
                  </a:txBody>
                  <a:tcPr marT="12700" marB="12700" marL="88900" marR="63500">
                    <a:solidFill>
                      <a:srgbClr val="F2F4F8"/>
                    </a:solidFill>
                  </a:tcPr>
                </a:tc>
                <a:tc>
                  <a:txBody>
                    <a:bodyPr wrap="square"/>
                    <a:lstStyle/>
                    <a:p>
                      <a:r>
                        <a:rPr sz="950" b="0">
                          <a:solidFill>
                            <a:srgbClr val="333333"/>
                          </a:solidFill>
                          <a:latin typeface="Calibri"/>
                        </a:rPr>
                        <a:t>FK → Suppliers</a:t>
                      </a:r>
                    </a:p>
                  </a:txBody>
                  <a:tcPr marT="12700" marB="12700" marL="88900" marR="63500">
                    <a:solidFill>
                      <a:srgbClr val="F2F4F8"/>
                    </a:solidFill>
                  </a:tcPr>
                </a:tc>
              </a:tr>
              <a:tr h="274320">
                <a:tc>
                  <a:txBody>
                    <a:bodyPr wrap="square"/>
                    <a:lstStyle/>
                    <a:p>
                      <a:r>
                        <a:rPr sz="950" b="0">
                          <a:solidFill>
                            <a:srgbClr val="333333"/>
                          </a:solidFill>
                          <a:latin typeface="Calibri"/>
                        </a:rPr>
                        <a:t>Price</a:t>
                      </a:r>
                    </a:p>
                  </a:txBody>
                  <a:tcPr marT="12700" marB="12700" marL="88900" marR="63500">
                    <a:solidFill>
                      <a:srgbClr val="FFFFFF"/>
                    </a:solidFill>
                  </a:tcPr>
                </a:tc>
                <a:tc>
                  <a:txBody>
                    <a:bodyPr wrap="square"/>
                    <a:lstStyle/>
                    <a:p>
                      <a:r>
                        <a:rPr sz="950" b="0">
                          <a:solidFill>
                            <a:srgbClr val="333333"/>
                          </a:solidFill>
                          <a:latin typeface="Calibri"/>
                        </a:rPr>
                        <a:t>NUMBER(10,2)</a:t>
                      </a:r>
                    </a:p>
                  </a:txBody>
                  <a:tcPr marT="12700" marB="12700" marL="88900" marR="63500">
                    <a:solidFill>
                      <a:srgbClr val="FFFFFF"/>
                    </a:solidFill>
                  </a:tcPr>
                </a:tc>
                <a:tc>
                  <a:txBody>
                    <a:bodyPr wrap="square"/>
                    <a:lstStyle/>
                    <a:p>
                      <a:r>
                        <a:rPr sz="950" b="0">
                          <a:solidFill>
                            <a:srgbClr val="333333"/>
                          </a:solidFill>
                          <a:latin typeface="Calibri"/>
                        </a:rPr>
                        <a:t>NOT NULL</a:t>
                      </a:r>
                    </a:p>
                  </a:txBody>
                  <a:tcPr marT="12700" marB="12700" marL="88900" marR="63500">
                    <a:solidFill>
                      <a:srgbClr val="FFFFFF"/>
                    </a:solidFill>
                  </a:tcPr>
                </a:tc>
              </a:tr>
              <a:tr h="274320">
                <a:tc>
                  <a:txBody>
                    <a:bodyPr wrap="square"/>
                    <a:lstStyle/>
                    <a:p>
                      <a:r>
                        <a:rPr sz="950" b="0">
                          <a:solidFill>
                            <a:srgbClr val="333333"/>
                          </a:solidFill>
                          <a:latin typeface="Calibri"/>
                        </a:rPr>
                        <a:t>Stock</a:t>
                      </a:r>
                    </a:p>
                  </a:txBody>
                  <a:tcPr marT="12700" marB="12700" marL="88900" marR="63500">
                    <a:solidFill>
                      <a:srgbClr val="F2F4F8"/>
                    </a:solidFill>
                  </a:tcPr>
                </a:tc>
                <a:tc>
                  <a:txBody>
                    <a:bodyPr wrap="square"/>
                    <a:lstStyle/>
                    <a:p>
                      <a:r>
                        <a:rPr sz="950" b="0">
                          <a:solidFill>
                            <a:srgbClr val="333333"/>
                          </a:solidFill>
                          <a:latin typeface="Calibri"/>
                        </a:rPr>
                        <a:t>NUMBER(4)</a:t>
                      </a:r>
                    </a:p>
                  </a:txBody>
                  <a:tcPr marT="12700" marB="12700" marL="88900" marR="63500">
                    <a:solidFill>
                      <a:srgbClr val="F2F4F8"/>
                    </a:solidFill>
                  </a:tcPr>
                </a:tc>
                <a:tc>
                  <a:txBody>
                    <a:bodyPr wrap="square"/>
                    <a:lstStyle/>
                    <a:p>
                      <a:r>
                        <a:rPr sz="950" b="0">
                          <a:solidFill>
                            <a:srgbClr val="333333"/>
                          </a:solidFill>
                          <a:latin typeface="Calibri"/>
                        </a:rPr>
                        <a:t>DEFAULT 0</a:t>
                      </a:r>
                    </a:p>
                  </a:txBody>
                  <a:tcPr marT="12700" marB="12700" marL="88900" marR="63500">
                    <a:solidFill>
                      <a:srgbClr val="F2F4F8"/>
                    </a:solidFill>
                  </a:tcPr>
                </a:tc>
              </a:tr>
            </a:tbl>
          </a:graphicData>
        </a:graphic>
      </p:graphicFrame>
      <p:sp>
        <p:nvSpPr>
          <p:cNvPr id="16" name="TextBox 15"/>
          <p:cNvSpPr txBox="1"/>
          <p:nvPr/>
        </p:nvSpPr>
        <p:spPr>
          <a:xfrm>
            <a:off x="7863840" y="3694176"/>
            <a:ext cx="3429000" cy="685800"/>
          </a:xfrm>
          <a:prstGeom prst="rect">
            <a:avLst/>
          </a:prstGeom>
          <a:noFill/>
        </p:spPr>
        <p:txBody>
          <a:bodyPr wrap="square">
            <a:spAutoFit/>
          </a:bodyPr>
          <a:lstStyle/>
          <a:p>
            <a:pPr algn="l">
              <a:spcAft>
                <a:spcPts val="0"/>
              </a:spcAft>
            </a:pPr>
            <a:r>
              <a:rPr sz="950" b="0">
                <a:solidFill>
                  <a:srgbClr val="6E7582"/>
                </a:solidFill>
                <a:latin typeface="Calibri"/>
              </a:rPr>
              <a:t>The central catalogue; both foreign keys stop invalid ids.</a:t>
            </a:r>
          </a:p>
        </p:txBody>
      </p:sp>
      <p:sp>
        <p:nvSpPr>
          <p:cNvPr id="17" name="TextBox 16"/>
          <p:cNvSpPr txBox="1"/>
          <p:nvPr/>
        </p:nvSpPr>
        <p:spPr>
          <a:xfrm>
            <a:off x="822960" y="6035040"/>
            <a:ext cx="10515600" cy="365760"/>
          </a:xfrm>
          <a:prstGeom prst="rect">
            <a:avLst/>
          </a:prstGeom>
          <a:noFill/>
        </p:spPr>
        <p:txBody>
          <a:bodyPr wrap="square">
            <a:spAutoFit/>
          </a:bodyPr>
          <a:lstStyle/>
          <a:p>
            <a:pPr algn="l">
              <a:spcAft>
                <a:spcPts val="0"/>
              </a:spcAft>
            </a:pPr>
            <a:r>
              <a:rPr sz="1200" b="0">
                <a:solidFill>
                  <a:srgbClr val="6E7582"/>
                </a:solidFill>
                <a:latin typeface="Calibri"/>
              </a:rPr>
              <a:t>Oracle types: NUMBER replaces INT, VARCHAR2 replaces VARCHAR.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Table Structures (2/2)</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Customers • Bills • BillItems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8</a:t>
            </a:r>
          </a:p>
        </p:txBody>
      </p:sp>
      <p:sp>
        <p:nvSpPr>
          <p:cNvPr id="8" name="TextBox 7"/>
          <p:cNvSpPr txBox="1"/>
          <p:nvPr/>
        </p:nvSpPr>
        <p:spPr>
          <a:xfrm>
            <a:off x="822960" y="1280160"/>
            <a:ext cx="3429000" cy="320040"/>
          </a:xfrm>
          <a:prstGeom prst="rect">
            <a:avLst/>
          </a:prstGeom>
          <a:noFill/>
        </p:spPr>
        <p:txBody>
          <a:bodyPr wrap="square">
            <a:spAutoFit/>
          </a:bodyPr>
          <a:lstStyle/>
          <a:p>
            <a:pPr algn="l">
              <a:spcAft>
                <a:spcPts val="0"/>
              </a:spcAft>
            </a:pPr>
            <a:r>
              <a:rPr sz="1500" b="1">
                <a:solidFill>
                  <a:srgbClr val="1F3864"/>
                </a:solidFill>
                <a:latin typeface="Calibri"/>
              </a:rPr>
              <a:t>Customers</a:t>
            </a:r>
          </a:p>
        </p:txBody>
      </p:sp>
      <p:graphicFrame>
        <p:nvGraphicFramePr>
          <p:cNvPr id="9" name="Table 8"/>
          <p:cNvGraphicFramePr>
            <a:graphicFrameLocks noGrp="1"/>
          </p:cNvGraphicFramePr>
          <p:nvPr/>
        </p:nvGraphicFramePr>
        <p:xfrm>
          <a:off x="822960" y="1664207"/>
          <a:ext cx="3429000" cy="1097280"/>
        </p:xfrm>
        <a:graphic>
          <a:graphicData uri="http://schemas.openxmlformats.org/drawingml/2006/table">
            <a:tbl>
              <a:tblPr firstRow="1" bandRow="1">
                <a:tableStyleId>{5C22544A-7EE6-4342-B048-85BDC9FD1C3A}</a:tableStyleId>
              </a:tblPr>
              <a:tblGrid>
                <a:gridCol w="1143000"/>
                <a:gridCol w="1143000"/>
                <a:gridCol w="1143000"/>
              </a:tblGrid>
              <a:tr h="274320">
                <a:tc>
                  <a:txBody>
                    <a:bodyPr wrap="square"/>
                    <a:lstStyle/>
                    <a:p>
                      <a:r>
                        <a:rPr sz="950" b="1">
                          <a:solidFill>
                            <a:srgbClr val="FFFFFF"/>
                          </a:solidFill>
                          <a:latin typeface="Calibri"/>
                        </a:rPr>
                        <a:t>Column</a:t>
                      </a:r>
                    </a:p>
                  </a:txBody>
                  <a:tcPr marT="12700" marB="12700" marL="88900" marR="63500">
                    <a:solidFill>
                      <a:srgbClr val="1F3864"/>
                    </a:solidFill>
                  </a:tcPr>
                </a:tc>
                <a:tc>
                  <a:txBody>
                    <a:bodyPr wrap="square"/>
                    <a:lstStyle/>
                    <a:p>
                      <a:r>
                        <a:rPr sz="950" b="1">
                          <a:solidFill>
                            <a:srgbClr val="FFFFFF"/>
                          </a:solidFill>
                          <a:latin typeface="Calibri"/>
                        </a:rPr>
                        <a:t>Type</a:t>
                      </a:r>
                    </a:p>
                  </a:txBody>
                  <a:tcPr marT="12700" marB="12700" marL="88900" marR="63500">
                    <a:solidFill>
                      <a:srgbClr val="1F3864"/>
                    </a:solidFill>
                  </a:tcPr>
                </a:tc>
                <a:tc>
                  <a:txBody>
                    <a:bodyPr wrap="square"/>
                    <a:lstStyle/>
                    <a:p>
                      <a:r>
                        <a:rPr sz="950" b="1">
                          <a:solidFill>
                            <a:srgbClr val="FFFFFF"/>
                          </a:solidFill>
                          <a:latin typeface="Calibri"/>
                        </a:rPr>
                        <a:t>Key</a:t>
                      </a:r>
                    </a:p>
                  </a:txBody>
                  <a:tcPr marT="12700" marB="12700" marL="88900" marR="63500">
                    <a:solidFill>
                      <a:srgbClr val="1F3864"/>
                    </a:solidFill>
                  </a:tcPr>
                </a:tc>
              </a:tr>
              <a:tr h="274320">
                <a:tc>
                  <a:txBody>
                    <a:bodyPr wrap="square"/>
                    <a:lstStyle/>
                    <a:p>
                      <a:r>
                        <a:rPr sz="950" b="0">
                          <a:solidFill>
                            <a:srgbClr val="333333"/>
                          </a:solidFill>
                          <a:latin typeface="Calibri"/>
                        </a:rPr>
                        <a:t>CustomerID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PRIMARY KEY</a:t>
                      </a:r>
                    </a:p>
                  </a:txBody>
                  <a:tcPr marT="12700" marB="12700" marL="88900" marR="63500">
                    <a:solidFill>
                      <a:srgbClr val="FFFFFF"/>
                    </a:solidFill>
                  </a:tcPr>
                </a:tc>
              </a:tr>
              <a:tr h="274320">
                <a:tc>
                  <a:txBody>
                    <a:bodyPr wrap="square"/>
                    <a:lstStyle/>
                    <a:p>
                      <a:r>
                        <a:rPr sz="950" b="0">
                          <a:solidFill>
                            <a:srgbClr val="333333"/>
                          </a:solidFill>
                          <a:latin typeface="Calibri"/>
                        </a:rPr>
                        <a:t>CustomerName</a:t>
                      </a:r>
                    </a:p>
                  </a:txBody>
                  <a:tcPr marT="12700" marB="12700" marL="88900" marR="63500">
                    <a:solidFill>
                      <a:srgbClr val="F2F4F8"/>
                    </a:solidFill>
                  </a:tcPr>
                </a:tc>
                <a:tc>
                  <a:txBody>
                    <a:bodyPr wrap="square"/>
                    <a:lstStyle/>
                    <a:p>
                      <a:r>
                        <a:rPr sz="950" b="0">
                          <a:solidFill>
                            <a:srgbClr val="333333"/>
                          </a:solidFill>
                          <a:latin typeface="Calibri"/>
                        </a:rPr>
                        <a:t>VARCHAR2(100)</a:t>
                      </a:r>
                    </a:p>
                  </a:txBody>
                  <a:tcPr marT="12700" marB="12700" marL="88900" marR="63500">
                    <a:solidFill>
                      <a:srgbClr val="F2F4F8"/>
                    </a:solidFill>
                  </a:tcPr>
                </a:tc>
                <a:tc>
                  <a:txBody>
                    <a:bodyPr wrap="square"/>
                    <a:lstStyle/>
                    <a:p>
                      <a:r>
                        <a:rPr sz="950" b="0">
                          <a:solidFill>
                            <a:srgbClr val="333333"/>
                          </a:solidFill>
                          <a:latin typeface="Calibri"/>
                        </a:rPr>
                        <a:t>NOT NULL</a:t>
                      </a:r>
                    </a:p>
                  </a:txBody>
                  <a:tcPr marT="12700" marB="12700" marL="88900" marR="63500">
                    <a:solidFill>
                      <a:srgbClr val="F2F4F8"/>
                    </a:solidFill>
                  </a:tcPr>
                </a:tc>
              </a:tr>
              <a:tr h="274320">
                <a:tc>
                  <a:txBody>
                    <a:bodyPr wrap="square"/>
                    <a:lstStyle/>
                    <a:p>
                      <a:r>
                        <a:rPr sz="950" b="0">
                          <a:solidFill>
                            <a:srgbClr val="333333"/>
                          </a:solidFill>
                          <a:latin typeface="Calibri"/>
                        </a:rPr>
                        <a:t>Phone</a:t>
                      </a:r>
                    </a:p>
                  </a:txBody>
                  <a:tcPr marT="12700" marB="12700" marL="88900" marR="63500">
                    <a:solidFill>
                      <a:srgbClr val="FFFFFF"/>
                    </a:solidFill>
                  </a:tcPr>
                </a:tc>
                <a:tc>
                  <a:txBody>
                    <a:bodyPr wrap="square"/>
                    <a:lstStyle/>
                    <a:p>
                      <a:r>
                        <a:rPr sz="950" b="0">
                          <a:solidFill>
                            <a:srgbClr val="333333"/>
                          </a:solidFill>
                          <a:latin typeface="Calibri"/>
                        </a:rPr>
                        <a:t>VARCHAR2(15)</a:t>
                      </a:r>
                    </a:p>
                  </a:txBody>
                  <a:tcPr marT="12700" marB="12700" marL="88900" marR="63500">
                    <a:solidFill>
                      <a:srgbClr val="FFFFFF"/>
                    </a:solidFill>
                  </a:tcPr>
                </a:tc>
                <a:tc>
                  <a:txBody>
                    <a:bodyPr wrap="square"/>
                    <a:lstStyle/>
                    <a:p>
                      <a:r>
                        <a:rPr sz="950" b="0">
                          <a:solidFill>
                            <a:srgbClr val="333333"/>
                          </a:solidFill>
                          <a:latin typeface="Calibri"/>
                        </a:rPr>
                        <a:t>—</a:t>
                      </a:r>
                    </a:p>
                  </a:txBody>
                  <a:tcPr marT="12700" marB="12700" marL="88900" marR="63500">
                    <a:solidFill>
                      <a:srgbClr val="FFFFFF"/>
                    </a:solidFill>
                  </a:tcPr>
                </a:tc>
              </a:tr>
            </a:tbl>
          </a:graphicData>
        </a:graphic>
      </p:graphicFrame>
      <p:sp>
        <p:nvSpPr>
          <p:cNvPr id="10" name="TextBox 9"/>
          <p:cNvSpPr txBox="1"/>
          <p:nvPr/>
        </p:nvSpPr>
        <p:spPr>
          <a:xfrm>
            <a:off x="822960" y="2871215"/>
            <a:ext cx="3429000" cy="685800"/>
          </a:xfrm>
          <a:prstGeom prst="rect">
            <a:avLst/>
          </a:prstGeom>
          <a:noFill/>
        </p:spPr>
        <p:txBody>
          <a:bodyPr wrap="square">
            <a:spAutoFit/>
          </a:bodyPr>
          <a:lstStyle/>
          <a:p>
            <a:pPr algn="l">
              <a:spcAft>
                <a:spcPts val="0"/>
              </a:spcAft>
            </a:pPr>
            <a:r>
              <a:rPr sz="950" b="0">
                <a:solidFill>
                  <a:srgbClr val="6E7582"/>
                </a:solidFill>
                <a:latin typeface="Calibri"/>
              </a:rPr>
              <a:t>Buyer details, kept separate from the bills.</a:t>
            </a:r>
          </a:p>
        </p:txBody>
      </p:sp>
      <p:sp>
        <p:nvSpPr>
          <p:cNvPr id="11" name="TextBox 10"/>
          <p:cNvSpPr txBox="1"/>
          <p:nvPr/>
        </p:nvSpPr>
        <p:spPr>
          <a:xfrm>
            <a:off x="4343400" y="1280160"/>
            <a:ext cx="3429000" cy="320040"/>
          </a:xfrm>
          <a:prstGeom prst="rect">
            <a:avLst/>
          </a:prstGeom>
          <a:noFill/>
        </p:spPr>
        <p:txBody>
          <a:bodyPr wrap="square">
            <a:spAutoFit/>
          </a:bodyPr>
          <a:lstStyle/>
          <a:p>
            <a:pPr algn="l">
              <a:spcAft>
                <a:spcPts val="0"/>
              </a:spcAft>
            </a:pPr>
            <a:r>
              <a:rPr sz="1500" b="1">
                <a:solidFill>
                  <a:srgbClr val="1F3864"/>
                </a:solidFill>
                <a:latin typeface="Calibri"/>
              </a:rPr>
              <a:t>Bills</a:t>
            </a:r>
          </a:p>
        </p:txBody>
      </p:sp>
      <p:graphicFrame>
        <p:nvGraphicFramePr>
          <p:cNvPr id="12" name="Table 11"/>
          <p:cNvGraphicFramePr>
            <a:graphicFrameLocks noGrp="1"/>
          </p:cNvGraphicFramePr>
          <p:nvPr/>
        </p:nvGraphicFramePr>
        <p:xfrm>
          <a:off x="4343400" y="1664207"/>
          <a:ext cx="3429000" cy="1371600"/>
        </p:xfrm>
        <a:graphic>
          <a:graphicData uri="http://schemas.openxmlformats.org/drawingml/2006/table">
            <a:tbl>
              <a:tblPr firstRow="1" bandRow="1">
                <a:tableStyleId>{5C22544A-7EE6-4342-B048-85BDC9FD1C3A}</a:tableStyleId>
              </a:tblPr>
              <a:tblGrid>
                <a:gridCol w="1143000"/>
                <a:gridCol w="1143000"/>
                <a:gridCol w="1143000"/>
              </a:tblGrid>
              <a:tr h="274320">
                <a:tc>
                  <a:txBody>
                    <a:bodyPr wrap="square"/>
                    <a:lstStyle/>
                    <a:p>
                      <a:r>
                        <a:rPr sz="950" b="1">
                          <a:solidFill>
                            <a:srgbClr val="FFFFFF"/>
                          </a:solidFill>
                          <a:latin typeface="Calibri"/>
                        </a:rPr>
                        <a:t>Column</a:t>
                      </a:r>
                    </a:p>
                  </a:txBody>
                  <a:tcPr marT="12700" marB="12700" marL="88900" marR="63500">
                    <a:solidFill>
                      <a:srgbClr val="1F3864"/>
                    </a:solidFill>
                  </a:tcPr>
                </a:tc>
                <a:tc>
                  <a:txBody>
                    <a:bodyPr wrap="square"/>
                    <a:lstStyle/>
                    <a:p>
                      <a:r>
                        <a:rPr sz="950" b="1">
                          <a:solidFill>
                            <a:srgbClr val="FFFFFF"/>
                          </a:solidFill>
                          <a:latin typeface="Calibri"/>
                        </a:rPr>
                        <a:t>Type</a:t>
                      </a:r>
                    </a:p>
                  </a:txBody>
                  <a:tcPr marT="12700" marB="12700" marL="88900" marR="63500">
                    <a:solidFill>
                      <a:srgbClr val="1F3864"/>
                    </a:solidFill>
                  </a:tcPr>
                </a:tc>
                <a:tc>
                  <a:txBody>
                    <a:bodyPr wrap="square"/>
                    <a:lstStyle/>
                    <a:p>
                      <a:r>
                        <a:rPr sz="950" b="1">
                          <a:solidFill>
                            <a:srgbClr val="FFFFFF"/>
                          </a:solidFill>
                          <a:latin typeface="Calibri"/>
                        </a:rPr>
                        <a:t>Key</a:t>
                      </a:r>
                    </a:p>
                  </a:txBody>
                  <a:tcPr marT="12700" marB="12700" marL="88900" marR="63500">
                    <a:solidFill>
                      <a:srgbClr val="1F3864"/>
                    </a:solidFill>
                  </a:tcPr>
                </a:tc>
              </a:tr>
              <a:tr h="274320">
                <a:tc>
                  <a:txBody>
                    <a:bodyPr wrap="square"/>
                    <a:lstStyle/>
                    <a:p>
                      <a:r>
                        <a:rPr sz="950" b="0">
                          <a:solidFill>
                            <a:srgbClr val="333333"/>
                          </a:solidFill>
                          <a:latin typeface="Calibri"/>
                        </a:rPr>
                        <a:t>BillID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PRIMARY KEY</a:t>
                      </a:r>
                    </a:p>
                  </a:txBody>
                  <a:tcPr marT="12700" marB="12700" marL="88900" marR="63500">
                    <a:solidFill>
                      <a:srgbClr val="FFFFFF"/>
                    </a:solidFill>
                  </a:tcPr>
                </a:tc>
              </a:tr>
              <a:tr h="274320">
                <a:tc>
                  <a:txBody>
                    <a:bodyPr wrap="square"/>
                    <a:lstStyle/>
                    <a:p>
                      <a:r>
                        <a:rPr sz="950" b="0">
                          <a:solidFill>
                            <a:srgbClr val="333333"/>
                          </a:solidFill>
                          <a:latin typeface="Calibri"/>
                        </a:rPr>
                        <a:t>CustomerID</a:t>
                      </a:r>
                    </a:p>
                  </a:txBody>
                  <a:tcPr marT="12700" marB="12700" marL="88900" marR="63500">
                    <a:solidFill>
                      <a:srgbClr val="F2F4F8"/>
                    </a:solidFill>
                  </a:tcPr>
                </a:tc>
                <a:tc>
                  <a:txBody>
                    <a:bodyPr wrap="square"/>
                    <a:lstStyle/>
                    <a:p>
                      <a:r>
                        <a:rPr sz="950" b="0">
                          <a:solidFill>
                            <a:srgbClr val="333333"/>
                          </a:solidFill>
                          <a:latin typeface="Calibri"/>
                        </a:rPr>
                        <a:t>NUMBER(4)</a:t>
                      </a:r>
                    </a:p>
                  </a:txBody>
                  <a:tcPr marT="12700" marB="12700" marL="88900" marR="63500">
                    <a:solidFill>
                      <a:srgbClr val="F2F4F8"/>
                    </a:solidFill>
                  </a:tcPr>
                </a:tc>
                <a:tc>
                  <a:txBody>
                    <a:bodyPr wrap="square"/>
                    <a:lstStyle/>
                    <a:p>
                      <a:r>
                        <a:rPr sz="950" b="0">
                          <a:solidFill>
                            <a:srgbClr val="333333"/>
                          </a:solidFill>
                          <a:latin typeface="Calibri"/>
                        </a:rPr>
                        <a:t>FK → Customers</a:t>
                      </a:r>
                    </a:p>
                  </a:txBody>
                  <a:tcPr marT="12700" marB="12700" marL="88900" marR="63500">
                    <a:solidFill>
                      <a:srgbClr val="F2F4F8"/>
                    </a:solidFill>
                  </a:tcPr>
                </a:tc>
              </a:tr>
              <a:tr h="274320">
                <a:tc>
                  <a:txBody>
                    <a:bodyPr wrap="square"/>
                    <a:lstStyle/>
                    <a:p>
                      <a:r>
                        <a:rPr sz="950" b="0">
                          <a:solidFill>
                            <a:srgbClr val="333333"/>
                          </a:solidFill>
                          <a:latin typeface="Calibri"/>
                        </a:rPr>
                        <a:t>BillDate</a:t>
                      </a:r>
                    </a:p>
                  </a:txBody>
                  <a:tcPr marT="12700" marB="12700" marL="88900" marR="63500">
                    <a:solidFill>
                      <a:srgbClr val="FFFFFF"/>
                    </a:solidFill>
                  </a:tcPr>
                </a:tc>
                <a:tc>
                  <a:txBody>
                    <a:bodyPr wrap="square"/>
                    <a:lstStyle/>
                    <a:p>
                      <a:r>
                        <a:rPr sz="950" b="0">
                          <a:solidFill>
                            <a:srgbClr val="333333"/>
                          </a:solidFill>
                          <a:latin typeface="Calibri"/>
                        </a:rPr>
                        <a:t>DATE</a:t>
                      </a:r>
                    </a:p>
                  </a:txBody>
                  <a:tcPr marT="12700" marB="12700" marL="88900" marR="63500">
                    <a:solidFill>
                      <a:srgbClr val="FFFFFF"/>
                    </a:solidFill>
                  </a:tcPr>
                </a:tc>
                <a:tc>
                  <a:txBody>
                    <a:bodyPr wrap="square"/>
                    <a:lstStyle/>
                    <a:p>
                      <a:r>
                        <a:rPr sz="950" b="0">
                          <a:solidFill>
                            <a:srgbClr val="333333"/>
                          </a:solidFill>
                          <a:latin typeface="Calibri"/>
                        </a:rPr>
                        <a:t>DEFAULT SYSDATE</a:t>
                      </a:r>
                    </a:p>
                  </a:txBody>
                  <a:tcPr marT="12700" marB="12700" marL="88900" marR="63500">
                    <a:solidFill>
                      <a:srgbClr val="FFFFFF"/>
                    </a:solidFill>
                  </a:tcPr>
                </a:tc>
              </a:tr>
              <a:tr h="274320">
                <a:tc>
                  <a:txBody>
                    <a:bodyPr wrap="square"/>
                    <a:lstStyle/>
                    <a:p>
                      <a:r>
                        <a:rPr sz="950" b="0">
                          <a:solidFill>
                            <a:srgbClr val="333333"/>
                          </a:solidFill>
                          <a:latin typeface="Calibri"/>
                        </a:rPr>
                        <a:t>TotalAmount</a:t>
                      </a:r>
                    </a:p>
                  </a:txBody>
                  <a:tcPr marT="12700" marB="12700" marL="88900" marR="63500">
                    <a:solidFill>
                      <a:srgbClr val="F2F4F8"/>
                    </a:solidFill>
                  </a:tcPr>
                </a:tc>
                <a:tc>
                  <a:txBody>
                    <a:bodyPr wrap="square"/>
                    <a:lstStyle/>
                    <a:p>
                      <a:r>
                        <a:rPr sz="950" b="0">
                          <a:solidFill>
                            <a:srgbClr val="333333"/>
                          </a:solidFill>
                          <a:latin typeface="Calibri"/>
                        </a:rPr>
                        <a:t>NUMBER(10,2)</a:t>
                      </a:r>
                    </a:p>
                  </a:txBody>
                  <a:tcPr marT="12700" marB="12700" marL="88900" marR="63500">
                    <a:solidFill>
                      <a:srgbClr val="F2F4F8"/>
                    </a:solidFill>
                  </a:tcPr>
                </a:tc>
                <a:tc>
                  <a:txBody>
                    <a:bodyPr wrap="square"/>
                    <a:lstStyle/>
                    <a:p>
                      <a:r>
                        <a:rPr sz="950" b="0">
                          <a:solidFill>
                            <a:srgbClr val="333333"/>
                          </a:solidFill>
                          <a:latin typeface="Calibri"/>
                        </a:rPr>
                        <a:t>set by TRIGGER</a:t>
                      </a:r>
                    </a:p>
                  </a:txBody>
                  <a:tcPr marT="12700" marB="12700" marL="88900" marR="63500">
                    <a:solidFill>
                      <a:srgbClr val="F2F4F8"/>
                    </a:solidFill>
                  </a:tcPr>
                </a:tc>
              </a:tr>
            </a:tbl>
          </a:graphicData>
        </a:graphic>
      </p:graphicFrame>
      <p:sp>
        <p:nvSpPr>
          <p:cNvPr id="13" name="TextBox 12"/>
          <p:cNvSpPr txBox="1"/>
          <p:nvPr/>
        </p:nvSpPr>
        <p:spPr>
          <a:xfrm>
            <a:off x="4343400" y="3145536"/>
            <a:ext cx="3429000" cy="685800"/>
          </a:xfrm>
          <a:prstGeom prst="rect">
            <a:avLst/>
          </a:prstGeom>
          <a:noFill/>
        </p:spPr>
        <p:txBody>
          <a:bodyPr wrap="square">
            <a:spAutoFit/>
          </a:bodyPr>
          <a:lstStyle/>
          <a:p>
            <a:pPr algn="l">
              <a:spcAft>
                <a:spcPts val="0"/>
              </a:spcAft>
            </a:pPr>
            <a:r>
              <a:rPr sz="950" b="0">
                <a:solidFill>
                  <a:srgbClr val="6E7582"/>
                </a:solidFill>
                <a:latin typeface="Calibri"/>
              </a:rPr>
              <a:t>One row per purchase. TotalAmount is never typed by hand.</a:t>
            </a:r>
          </a:p>
        </p:txBody>
      </p:sp>
      <p:sp>
        <p:nvSpPr>
          <p:cNvPr id="14" name="TextBox 13"/>
          <p:cNvSpPr txBox="1"/>
          <p:nvPr/>
        </p:nvSpPr>
        <p:spPr>
          <a:xfrm>
            <a:off x="7863840" y="1280160"/>
            <a:ext cx="3429000" cy="320040"/>
          </a:xfrm>
          <a:prstGeom prst="rect">
            <a:avLst/>
          </a:prstGeom>
          <a:noFill/>
        </p:spPr>
        <p:txBody>
          <a:bodyPr wrap="square">
            <a:spAutoFit/>
          </a:bodyPr>
          <a:lstStyle/>
          <a:p>
            <a:pPr algn="l">
              <a:spcAft>
                <a:spcPts val="0"/>
              </a:spcAft>
            </a:pPr>
            <a:r>
              <a:rPr sz="1500" b="1">
                <a:solidFill>
                  <a:srgbClr val="1F3864"/>
                </a:solidFill>
                <a:latin typeface="Calibri"/>
              </a:rPr>
              <a:t>BillItems</a:t>
            </a:r>
          </a:p>
        </p:txBody>
      </p:sp>
      <p:graphicFrame>
        <p:nvGraphicFramePr>
          <p:cNvPr id="15" name="Table 14"/>
          <p:cNvGraphicFramePr>
            <a:graphicFrameLocks noGrp="1"/>
          </p:cNvGraphicFramePr>
          <p:nvPr/>
        </p:nvGraphicFramePr>
        <p:xfrm>
          <a:off x="7863840" y="1664207"/>
          <a:ext cx="3429000" cy="1645920"/>
        </p:xfrm>
        <a:graphic>
          <a:graphicData uri="http://schemas.openxmlformats.org/drawingml/2006/table">
            <a:tbl>
              <a:tblPr firstRow="1" bandRow="1">
                <a:tableStyleId>{5C22544A-7EE6-4342-B048-85BDC9FD1C3A}</a:tableStyleId>
              </a:tblPr>
              <a:tblGrid>
                <a:gridCol w="1143000"/>
                <a:gridCol w="1143000"/>
                <a:gridCol w="1143000"/>
              </a:tblGrid>
              <a:tr h="274320">
                <a:tc>
                  <a:txBody>
                    <a:bodyPr wrap="square"/>
                    <a:lstStyle/>
                    <a:p>
                      <a:r>
                        <a:rPr sz="950" b="1">
                          <a:solidFill>
                            <a:srgbClr val="FFFFFF"/>
                          </a:solidFill>
                          <a:latin typeface="Calibri"/>
                        </a:rPr>
                        <a:t>Column</a:t>
                      </a:r>
                    </a:p>
                  </a:txBody>
                  <a:tcPr marT="12700" marB="12700" marL="88900" marR="63500">
                    <a:solidFill>
                      <a:srgbClr val="1F3864"/>
                    </a:solidFill>
                  </a:tcPr>
                </a:tc>
                <a:tc>
                  <a:txBody>
                    <a:bodyPr wrap="square"/>
                    <a:lstStyle/>
                    <a:p>
                      <a:r>
                        <a:rPr sz="950" b="1">
                          <a:solidFill>
                            <a:srgbClr val="FFFFFF"/>
                          </a:solidFill>
                          <a:latin typeface="Calibri"/>
                        </a:rPr>
                        <a:t>Type</a:t>
                      </a:r>
                    </a:p>
                  </a:txBody>
                  <a:tcPr marT="12700" marB="12700" marL="88900" marR="63500">
                    <a:solidFill>
                      <a:srgbClr val="1F3864"/>
                    </a:solidFill>
                  </a:tcPr>
                </a:tc>
                <a:tc>
                  <a:txBody>
                    <a:bodyPr wrap="square"/>
                    <a:lstStyle/>
                    <a:p>
                      <a:r>
                        <a:rPr sz="950" b="1">
                          <a:solidFill>
                            <a:srgbClr val="FFFFFF"/>
                          </a:solidFill>
                          <a:latin typeface="Calibri"/>
                        </a:rPr>
                        <a:t>Key</a:t>
                      </a:r>
                    </a:p>
                  </a:txBody>
                  <a:tcPr marT="12700" marB="12700" marL="88900" marR="63500">
                    <a:solidFill>
                      <a:srgbClr val="1F3864"/>
                    </a:solidFill>
                  </a:tcPr>
                </a:tc>
              </a:tr>
              <a:tr h="274320">
                <a:tc>
                  <a:txBody>
                    <a:bodyPr wrap="square"/>
                    <a:lstStyle/>
                    <a:p>
                      <a:r>
                        <a:rPr sz="950" b="0">
                          <a:solidFill>
                            <a:srgbClr val="333333"/>
                          </a:solidFill>
                          <a:latin typeface="Calibri"/>
                        </a:rPr>
                        <a:t>ItemID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PRIMARY KEY</a:t>
                      </a:r>
                    </a:p>
                  </a:txBody>
                  <a:tcPr marT="12700" marB="12700" marL="88900" marR="63500">
                    <a:solidFill>
                      <a:srgbClr val="FFFFFF"/>
                    </a:solidFill>
                  </a:tcPr>
                </a:tc>
              </a:tr>
              <a:tr h="274320">
                <a:tc>
                  <a:txBody>
                    <a:bodyPr wrap="square"/>
                    <a:lstStyle/>
                    <a:p>
                      <a:r>
                        <a:rPr sz="950" b="0">
                          <a:solidFill>
                            <a:srgbClr val="333333"/>
                          </a:solidFill>
                          <a:latin typeface="Calibri"/>
                        </a:rPr>
                        <a:t>BillID</a:t>
                      </a:r>
                    </a:p>
                  </a:txBody>
                  <a:tcPr marT="12700" marB="12700" marL="88900" marR="63500">
                    <a:solidFill>
                      <a:srgbClr val="F2F4F8"/>
                    </a:solidFill>
                  </a:tcPr>
                </a:tc>
                <a:tc>
                  <a:txBody>
                    <a:bodyPr wrap="square"/>
                    <a:lstStyle/>
                    <a:p>
                      <a:r>
                        <a:rPr sz="950" b="0">
                          <a:solidFill>
                            <a:srgbClr val="333333"/>
                          </a:solidFill>
                          <a:latin typeface="Calibri"/>
                        </a:rPr>
                        <a:t>NUMBER(4)</a:t>
                      </a:r>
                    </a:p>
                  </a:txBody>
                  <a:tcPr marT="12700" marB="12700" marL="88900" marR="63500">
                    <a:solidFill>
                      <a:srgbClr val="F2F4F8"/>
                    </a:solidFill>
                  </a:tcPr>
                </a:tc>
                <a:tc>
                  <a:txBody>
                    <a:bodyPr wrap="square"/>
                    <a:lstStyle/>
                    <a:p>
                      <a:r>
                        <a:rPr sz="950" b="0">
                          <a:solidFill>
                            <a:srgbClr val="333333"/>
                          </a:solidFill>
                          <a:latin typeface="Calibri"/>
                        </a:rPr>
                        <a:t>FK → Bills</a:t>
                      </a:r>
                    </a:p>
                  </a:txBody>
                  <a:tcPr marT="12700" marB="12700" marL="88900" marR="63500">
                    <a:solidFill>
                      <a:srgbClr val="F2F4F8"/>
                    </a:solidFill>
                  </a:tcPr>
                </a:tc>
              </a:tr>
              <a:tr h="274320">
                <a:tc>
                  <a:txBody>
                    <a:bodyPr wrap="square"/>
                    <a:lstStyle/>
                    <a:p>
                      <a:r>
                        <a:rPr sz="950" b="0">
                          <a:solidFill>
                            <a:srgbClr val="333333"/>
                          </a:solidFill>
                          <a:latin typeface="Calibri"/>
                        </a:rPr>
                        <a:t>ProductID</a:t>
                      </a:r>
                    </a:p>
                  </a:txBody>
                  <a:tcPr marT="12700" marB="12700" marL="88900" marR="63500">
                    <a:solidFill>
                      <a:srgbClr val="FFFFFF"/>
                    </a:solidFill>
                  </a:tcPr>
                </a:tc>
                <a:tc>
                  <a:txBody>
                    <a:bodyPr wrap="square"/>
                    <a:lstStyle/>
                    <a:p>
                      <a:r>
                        <a:rPr sz="950" b="0">
                          <a:solidFill>
                            <a:srgbClr val="333333"/>
                          </a:solidFill>
                          <a:latin typeface="Calibri"/>
                        </a:rPr>
                        <a:t>NUMBER(4)</a:t>
                      </a:r>
                    </a:p>
                  </a:txBody>
                  <a:tcPr marT="12700" marB="12700" marL="88900" marR="63500">
                    <a:solidFill>
                      <a:srgbClr val="FFFFFF"/>
                    </a:solidFill>
                  </a:tcPr>
                </a:tc>
                <a:tc>
                  <a:txBody>
                    <a:bodyPr wrap="square"/>
                    <a:lstStyle/>
                    <a:p>
                      <a:r>
                        <a:rPr sz="950" b="0">
                          <a:solidFill>
                            <a:srgbClr val="333333"/>
                          </a:solidFill>
                          <a:latin typeface="Calibri"/>
                        </a:rPr>
                        <a:t>FK → Products</a:t>
                      </a:r>
                    </a:p>
                  </a:txBody>
                  <a:tcPr marT="12700" marB="12700" marL="88900" marR="63500">
                    <a:solidFill>
                      <a:srgbClr val="FFFFFF"/>
                    </a:solidFill>
                  </a:tcPr>
                </a:tc>
              </a:tr>
              <a:tr h="274320">
                <a:tc>
                  <a:txBody>
                    <a:bodyPr wrap="square"/>
                    <a:lstStyle/>
                    <a:p>
                      <a:r>
                        <a:rPr sz="950" b="0">
                          <a:solidFill>
                            <a:srgbClr val="333333"/>
                          </a:solidFill>
                          <a:latin typeface="Calibri"/>
                        </a:rPr>
                        <a:t>Quantity</a:t>
                      </a:r>
                    </a:p>
                  </a:txBody>
                  <a:tcPr marT="12700" marB="12700" marL="88900" marR="63500">
                    <a:solidFill>
                      <a:srgbClr val="F2F4F8"/>
                    </a:solidFill>
                  </a:tcPr>
                </a:tc>
                <a:tc>
                  <a:txBody>
                    <a:bodyPr wrap="square"/>
                    <a:lstStyle/>
                    <a:p>
                      <a:r>
                        <a:rPr sz="950" b="0">
                          <a:solidFill>
                            <a:srgbClr val="333333"/>
                          </a:solidFill>
                          <a:latin typeface="Calibri"/>
                        </a:rPr>
                        <a:t>NUMBER(4)</a:t>
                      </a:r>
                    </a:p>
                  </a:txBody>
                  <a:tcPr marT="12700" marB="12700" marL="88900" marR="63500">
                    <a:solidFill>
                      <a:srgbClr val="F2F4F8"/>
                    </a:solidFill>
                  </a:tcPr>
                </a:tc>
                <a:tc>
                  <a:txBody>
                    <a:bodyPr wrap="square"/>
                    <a:lstStyle/>
                    <a:p>
                      <a:r>
                        <a:rPr sz="950" b="0">
                          <a:solidFill>
                            <a:srgbClr val="333333"/>
                          </a:solidFill>
                          <a:latin typeface="Calibri"/>
                        </a:rPr>
                        <a:t>NOT NULL</a:t>
                      </a:r>
                    </a:p>
                  </a:txBody>
                  <a:tcPr marT="12700" marB="12700" marL="88900" marR="63500">
                    <a:solidFill>
                      <a:srgbClr val="F2F4F8"/>
                    </a:solidFill>
                  </a:tcPr>
                </a:tc>
              </a:tr>
              <a:tr h="274320">
                <a:tc>
                  <a:txBody>
                    <a:bodyPr wrap="square"/>
                    <a:lstStyle/>
                    <a:p>
                      <a:r>
                        <a:rPr sz="950" b="0">
                          <a:solidFill>
                            <a:srgbClr val="333333"/>
                          </a:solidFill>
                          <a:latin typeface="Calibri"/>
                        </a:rPr>
                        <a:t>Price</a:t>
                      </a:r>
                    </a:p>
                  </a:txBody>
                  <a:tcPr marT="12700" marB="12700" marL="88900" marR="63500">
                    <a:solidFill>
                      <a:srgbClr val="FFFFFF"/>
                    </a:solidFill>
                  </a:tcPr>
                </a:tc>
                <a:tc>
                  <a:txBody>
                    <a:bodyPr wrap="square"/>
                    <a:lstStyle/>
                    <a:p>
                      <a:r>
                        <a:rPr sz="950" b="0">
                          <a:solidFill>
                            <a:srgbClr val="333333"/>
                          </a:solidFill>
                          <a:latin typeface="Calibri"/>
                        </a:rPr>
                        <a:t>NUMBER(10,2)</a:t>
                      </a:r>
                    </a:p>
                  </a:txBody>
                  <a:tcPr marT="12700" marB="12700" marL="88900" marR="63500">
                    <a:solidFill>
                      <a:srgbClr val="FFFFFF"/>
                    </a:solidFill>
                  </a:tcPr>
                </a:tc>
                <a:tc>
                  <a:txBody>
                    <a:bodyPr wrap="square"/>
                    <a:lstStyle/>
                    <a:p>
                      <a:r>
                        <a:rPr sz="950" b="0">
                          <a:solidFill>
                            <a:srgbClr val="333333"/>
                          </a:solidFill>
                          <a:latin typeface="Calibri"/>
                        </a:rPr>
                        <a:t>price at sale time</a:t>
                      </a:r>
                    </a:p>
                  </a:txBody>
                  <a:tcPr marT="12700" marB="12700" marL="88900" marR="63500">
                    <a:solidFill>
                      <a:srgbClr val="FFFFFF"/>
                    </a:solidFill>
                  </a:tcPr>
                </a:tc>
              </a:tr>
            </a:tbl>
          </a:graphicData>
        </a:graphic>
      </p:graphicFrame>
      <p:sp>
        <p:nvSpPr>
          <p:cNvPr id="16" name="TextBox 15"/>
          <p:cNvSpPr txBox="1"/>
          <p:nvPr/>
        </p:nvSpPr>
        <p:spPr>
          <a:xfrm>
            <a:off x="7863840" y="3419856"/>
            <a:ext cx="3429000" cy="685800"/>
          </a:xfrm>
          <a:prstGeom prst="rect">
            <a:avLst/>
          </a:prstGeom>
          <a:noFill/>
        </p:spPr>
        <p:txBody>
          <a:bodyPr wrap="square">
            <a:spAutoFit/>
          </a:bodyPr>
          <a:lstStyle/>
          <a:p>
            <a:pPr algn="l">
              <a:spcAft>
                <a:spcPts val="0"/>
              </a:spcAft>
            </a:pPr>
            <a:r>
              <a:rPr sz="950" b="0">
                <a:solidFill>
                  <a:srgbClr val="6E7582"/>
                </a:solidFill>
                <a:latin typeface="Calibri"/>
              </a:rPr>
              <a:t>Junction table: one row per product line on a bill.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How the Tables Are Created</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CREATE TABLE with inline keys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9</a:t>
            </a:r>
          </a:p>
        </p:txBody>
      </p:sp>
      <p:sp>
        <p:nvSpPr>
          <p:cNvPr id="8" name="Rounded Rectangle 7"/>
          <p:cNvSpPr/>
          <p:nvPr/>
        </p:nvSpPr>
        <p:spPr>
          <a:xfrm>
            <a:off x="822960" y="1234440"/>
            <a:ext cx="6675120" cy="50292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8FA8C9"/>
                </a:solidFill>
                <a:latin typeface="Consolas"/>
              </a:rPr>
              <a:t>-- parents first, children last</a:t>
            </a:r>
          </a:p>
          <a:p>
            <a:r>
              <a:rPr sz="1100">
                <a:solidFill>
                  <a:srgbClr val="D8E2F0"/>
                </a:solidFill>
                <a:latin typeface="Consolas"/>
              </a:rPr>
              <a:t>CREATE TABLE Categories (</a:t>
            </a:r>
          </a:p>
          <a:p>
            <a:r>
              <a:rPr sz="1100">
                <a:solidFill>
                  <a:srgbClr val="D8E2F0"/>
                </a:solidFill>
                <a:latin typeface="Consolas"/>
              </a:rPr>
              <a:t>  CategoryID   NUMBER(4)     PRIMARY KEY,</a:t>
            </a:r>
          </a:p>
          <a:p>
            <a:r>
              <a:rPr sz="1100">
                <a:solidFill>
                  <a:srgbClr val="D8E2F0"/>
                </a:solidFill>
                <a:latin typeface="Consolas"/>
              </a:rPr>
              <a:t>  CategoryName VARCHAR2(50)  NOT NULL);</a:t>
            </a:r>
          </a:p>
          <a:p>
            <a:r>
              <a:rPr sz="1100">
                <a:solidFill>
                  <a:srgbClr val="D8E2F0"/>
                </a:solidFill>
                <a:latin typeface="Consolas"/>
              </a:rPr>
              <a:t/>
            </a:r>
          </a:p>
          <a:p>
            <a:r>
              <a:rPr sz="1100">
                <a:solidFill>
                  <a:srgbClr val="D8E2F0"/>
                </a:solidFill>
                <a:latin typeface="Consolas"/>
              </a:rPr>
              <a:t>CREATE TABLE Products (</a:t>
            </a:r>
          </a:p>
          <a:p>
            <a:r>
              <a:rPr sz="1100">
                <a:solidFill>
                  <a:srgbClr val="D8E2F0"/>
                </a:solidFill>
                <a:latin typeface="Consolas"/>
              </a:rPr>
              <a:t>  ProductID   NUMBER(4)     PRIMARY KEY,</a:t>
            </a:r>
          </a:p>
          <a:p>
            <a:r>
              <a:rPr sz="1100">
                <a:solidFill>
                  <a:srgbClr val="D8E2F0"/>
                </a:solidFill>
                <a:latin typeface="Consolas"/>
              </a:rPr>
              <a:t>  ProductName VARCHAR2(100) NOT NULL,</a:t>
            </a:r>
          </a:p>
          <a:p>
            <a:r>
              <a:rPr sz="1100">
                <a:solidFill>
                  <a:srgbClr val="D8E2F0"/>
                </a:solidFill>
                <a:latin typeface="Consolas"/>
              </a:rPr>
              <a:t>  CategoryID  NUMBER(4)     REFERENCES Categories(CategoryID),</a:t>
            </a:r>
          </a:p>
          <a:p>
            <a:r>
              <a:rPr sz="1100">
                <a:solidFill>
                  <a:srgbClr val="D8E2F0"/>
                </a:solidFill>
                <a:latin typeface="Consolas"/>
              </a:rPr>
              <a:t>  SupplierID  NUMBER(4)     REFERENCES Suppliers(SupplierID),</a:t>
            </a:r>
          </a:p>
          <a:p>
            <a:r>
              <a:rPr sz="1100">
                <a:solidFill>
                  <a:srgbClr val="D8E2F0"/>
                </a:solidFill>
                <a:latin typeface="Consolas"/>
              </a:rPr>
              <a:t>  Price       NUMBER(10,2)  NOT NULL,</a:t>
            </a:r>
          </a:p>
          <a:p>
            <a:r>
              <a:rPr sz="1100">
                <a:solidFill>
                  <a:srgbClr val="D8E2F0"/>
                </a:solidFill>
                <a:latin typeface="Consolas"/>
              </a:rPr>
              <a:t>  Stock       NUMBER(4)     DEFAULT 0);</a:t>
            </a:r>
          </a:p>
          <a:p>
            <a:r>
              <a:rPr sz="1100">
                <a:solidFill>
                  <a:srgbClr val="D8E2F0"/>
                </a:solidFill>
                <a:latin typeface="Consolas"/>
              </a:rPr>
              <a:t/>
            </a:r>
          </a:p>
          <a:p>
            <a:r>
              <a:rPr sz="1100">
                <a:solidFill>
                  <a:srgbClr val="D8E2F0"/>
                </a:solidFill>
                <a:latin typeface="Consolas"/>
              </a:rPr>
              <a:t>CREATE TABLE BillItems (</a:t>
            </a:r>
          </a:p>
          <a:p>
            <a:r>
              <a:rPr sz="1100">
                <a:solidFill>
                  <a:srgbClr val="D8E2F0"/>
                </a:solidFill>
                <a:latin typeface="Consolas"/>
              </a:rPr>
              <a:t>  ItemID    NUMBER(4)    PRIMARY KEY,</a:t>
            </a:r>
          </a:p>
          <a:p>
            <a:r>
              <a:rPr sz="1100">
                <a:solidFill>
                  <a:srgbClr val="D8E2F0"/>
                </a:solidFill>
                <a:latin typeface="Consolas"/>
              </a:rPr>
              <a:t>  BillID    NUMBER(4)    REFERENCES Bills(BillID),</a:t>
            </a:r>
          </a:p>
          <a:p>
            <a:r>
              <a:rPr sz="1100">
                <a:solidFill>
                  <a:srgbClr val="D8E2F0"/>
                </a:solidFill>
                <a:latin typeface="Consolas"/>
              </a:rPr>
              <a:t>  ProductID NUMBER(4)    REFERENCES Products(ProductID),</a:t>
            </a:r>
          </a:p>
          <a:p>
            <a:r>
              <a:rPr sz="1100">
                <a:solidFill>
                  <a:srgbClr val="D8E2F0"/>
                </a:solidFill>
                <a:latin typeface="Consolas"/>
              </a:rPr>
              <a:t>  Quantity  NUMBER(4)    NOT NULL,</a:t>
            </a:r>
          </a:p>
          <a:p>
            <a:r>
              <a:rPr sz="1100">
                <a:solidFill>
                  <a:srgbClr val="D8E2F0"/>
                </a:solidFill>
                <a:latin typeface="Consolas"/>
              </a:rPr>
              <a:t>  Price     NUMBER(10,2) NOT NULL);</a:t>
            </a:r>
          </a:p>
        </p:txBody>
      </p:sp>
      <p:sp>
        <p:nvSpPr>
          <p:cNvPr id="9" name="TextBox 8"/>
          <p:cNvSpPr txBox="1"/>
          <p:nvPr/>
        </p:nvSpPr>
        <p:spPr>
          <a:xfrm>
            <a:off x="7818120" y="1371600"/>
            <a:ext cx="3657600" cy="4206240"/>
          </a:xfrm>
          <a:prstGeom prst="rect">
            <a:avLst/>
          </a:prstGeom>
          <a:noFill/>
        </p:spPr>
        <p:txBody>
          <a:bodyPr wrap="square">
            <a:spAutoFit/>
          </a:bodyPr>
          <a:lstStyle/>
          <a:p>
            <a:pPr algn="l">
              <a:spcAft>
                <a:spcPts val="400"/>
              </a:spcAft>
            </a:pPr>
            <a:r>
              <a:rPr sz="1250" b="1">
                <a:solidFill>
                  <a:srgbClr val="1F3864"/>
                </a:solidFill>
                <a:latin typeface="Calibri"/>
              </a:rPr>
              <a:t>•  PRIMARY KEY</a:t>
            </a:r>
          </a:p>
          <a:p>
            <a:pPr algn="l">
              <a:spcAft>
                <a:spcPts val="400"/>
              </a:spcAft>
            </a:pPr>
            <a:r>
              <a:rPr sz="1100" b="0">
                <a:solidFill>
                  <a:srgbClr val="333333"/>
                </a:solidFill>
                <a:latin typeface="Calibri"/>
              </a:rPr>
              <a:t>      unique + not null — identifies each row.</a:t>
            </a:r>
          </a:p>
          <a:p>
            <a:pPr algn="l">
              <a:spcAft>
                <a:spcPts val="400"/>
              </a:spcAft>
            </a:pPr>
            <a:r>
              <a:rPr sz="1250" b="1">
                <a:solidFill>
                  <a:srgbClr val="1F3864"/>
                </a:solidFill>
                <a:latin typeface="Calibri"/>
              </a:rPr>
              <a:t>•  REFERENCES</a:t>
            </a:r>
          </a:p>
          <a:p>
            <a:pPr algn="l">
              <a:spcAft>
                <a:spcPts val="400"/>
              </a:spcAft>
            </a:pPr>
            <a:r>
              <a:rPr sz="1100" b="0">
                <a:solidFill>
                  <a:srgbClr val="333333"/>
                </a:solidFill>
                <a:latin typeface="Calibri"/>
              </a:rPr>
              <a:t>      foreign key — the database rejects broken links.</a:t>
            </a:r>
          </a:p>
          <a:p>
            <a:pPr algn="l">
              <a:spcAft>
                <a:spcPts val="400"/>
              </a:spcAft>
            </a:pPr>
            <a:r>
              <a:rPr sz="1250" b="1">
                <a:solidFill>
                  <a:srgbClr val="1F3864"/>
                </a:solidFill>
                <a:latin typeface="Calibri"/>
              </a:rPr>
              <a:t>•  Order matters</a:t>
            </a:r>
          </a:p>
          <a:p>
            <a:pPr algn="l">
              <a:spcAft>
                <a:spcPts val="400"/>
              </a:spcAft>
            </a:pPr>
            <a:r>
              <a:rPr sz="1100" b="0">
                <a:solidFill>
                  <a:srgbClr val="333333"/>
                </a:solidFill>
                <a:latin typeface="Calibri"/>
              </a:rPr>
              <a:t>      parents are created before children.</a:t>
            </a:r>
          </a:p>
          <a:p>
            <a:pPr algn="l">
              <a:spcAft>
                <a:spcPts val="400"/>
              </a:spcAft>
            </a:pPr>
            <a:r>
              <a:rPr sz="1250" b="1">
                <a:solidFill>
                  <a:srgbClr val="1F3864"/>
                </a:solidFill>
                <a:latin typeface="Calibri"/>
              </a:rPr>
              <a:t>•  Drop order</a:t>
            </a:r>
          </a:p>
          <a:p>
            <a:pPr algn="l">
              <a:spcAft>
                <a:spcPts val="400"/>
              </a:spcAft>
            </a:pPr>
            <a:r>
              <a:rPr sz="1100" b="0">
                <a:solidFill>
                  <a:srgbClr val="333333"/>
                </a:solidFill>
                <a:latin typeface="Calibri"/>
              </a:rPr>
              <a:t>      children are dropped before parents (BillItems → Bills → Products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PL/SQL Trigger — TRG_BILL_TOTAL</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Bill totals that never go wrong</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10</a:t>
            </a:r>
          </a:p>
        </p:txBody>
      </p:sp>
      <p:sp>
        <p:nvSpPr>
          <p:cNvPr id="8" name="Rounded Rectangle 7"/>
          <p:cNvSpPr/>
          <p:nvPr/>
        </p:nvSpPr>
        <p:spPr>
          <a:xfrm>
            <a:off x="822960" y="1280160"/>
            <a:ext cx="6675120" cy="36576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50">
                <a:solidFill>
                  <a:srgbClr val="D8E2F0"/>
                </a:solidFill>
                <a:latin typeface="Consolas"/>
              </a:rPr>
              <a:t>CREATE OR REPLACE TRIGGER TRG_BILL_TOTAL</a:t>
            </a:r>
          </a:p>
          <a:p>
            <a:r>
              <a:rPr sz="1150">
                <a:solidFill>
                  <a:srgbClr val="D8E2F0"/>
                </a:solidFill>
                <a:latin typeface="Consolas"/>
              </a:rPr>
              <a:t>AFTER INSERT OR UPDATE OR DELETE</a:t>
            </a:r>
          </a:p>
          <a:p>
            <a:r>
              <a:rPr sz="1150">
                <a:solidFill>
                  <a:srgbClr val="D8E2F0"/>
                </a:solidFill>
                <a:latin typeface="Consolas"/>
              </a:rPr>
              <a:t>ON BillItems</a:t>
            </a:r>
          </a:p>
          <a:p>
            <a:r>
              <a:rPr sz="1150">
                <a:solidFill>
                  <a:srgbClr val="D8E2F0"/>
                </a:solidFill>
                <a:latin typeface="Consolas"/>
              </a:rPr>
              <a:t>DECLARE</a:t>
            </a:r>
          </a:p>
          <a:p>
            <a:r>
              <a:rPr sz="1150">
                <a:solidFill>
                  <a:srgbClr val="D8E2F0"/>
                </a:solidFill>
                <a:latin typeface="Consolas"/>
              </a:rPr>
              <a:t>  CURSOR c_bills IS</a:t>
            </a:r>
          </a:p>
          <a:p>
            <a:r>
              <a:rPr sz="1150">
                <a:solidFill>
                  <a:srgbClr val="D8E2F0"/>
                </a:solidFill>
                <a:latin typeface="Consolas"/>
              </a:rPr>
              <a:t>    SELECT DISTINCT BillID FROM BillItems;</a:t>
            </a:r>
          </a:p>
          <a:p>
            <a:r>
              <a:rPr sz="1150">
                <a:solidFill>
                  <a:srgbClr val="D8E2F0"/>
                </a:solidFill>
                <a:latin typeface="Consolas"/>
              </a:rPr>
              <a:t>BEGIN</a:t>
            </a:r>
          </a:p>
          <a:p>
            <a:r>
              <a:rPr sz="1150">
                <a:solidFill>
                  <a:srgbClr val="D8E2F0"/>
                </a:solidFill>
                <a:latin typeface="Consolas"/>
              </a:rPr>
              <a:t>  FOR r IN c_bills LOOP</a:t>
            </a:r>
          </a:p>
          <a:p>
            <a:r>
              <a:rPr sz="1150">
                <a:solidFill>
                  <a:srgbClr val="D8E2F0"/>
                </a:solidFill>
                <a:latin typeface="Consolas"/>
              </a:rPr>
              <a:t>    UPDATE Bills SET TotalAmount =</a:t>
            </a:r>
          </a:p>
          <a:p>
            <a:r>
              <a:rPr sz="1150">
                <a:solidFill>
                  <a:srgbClr val="D8E2F0"/>
                </a:solidFill>
                <a:latin typeface="Consolas"/>
              </a:rPr>
              <a:t>      (SELECT NVL(SUM(Price*Quantity),0)</a:t>
            </a:r>
          </a:p>
          <a:p>
            <a:r>
              <a:rPr sz="1150">
                <a:solidFill>
                  <a:srgbClr val="D8E2F0"/>
                </a:solidFill>
                <a:latin typeface="Consolas"/>
              </a:rPr>
              <a:t>       FROM BillItems</a:t>
            </a:r>
          </a:p>
          <a:p>
            <a:r>
              <a:rPr sz="1150">
                <a:solidFill>
                  <a:srgbClr val="D8E2F0"/>
                </a:solidFill>
                <a:latin typeface="Consolas"/>
              </a:rPr>
              <a:t>       WHERE BillID = r.BillID)</a:t>
            </a:r>
          </a:p>
          <a:p>
            <a:r>
              <a:rPr sz="1150">
                <a:solidFill>
                  <a:srgbClr val="D8E2F0"/>
                </a:solidFill>
                <a:latin typeface="Consolas"/>
              </a:rPr>
              <a:t>    WHERE BillID = r.BillID;</a:t>
            </a:r>
          </a:p>
          <a:p>
            <a:r>
              <a:rPr sz="1150">
                <a:solidFill>
                  <a:srgbClr val="D8E2F0"/>
                </a:solidFill>
                <a:latin typeface="Consolas"/>
              </a:rPr>
              <a:t>  END LOOP;</a:t>
            </a:r>
          </a:p>
          <a:p>
            <a:r>
              <a:rPr sz="1150">
                <a:solidFill>
                  <a:srgbClr val="D8E2F0"/>
                </a:solidFill>
                <a:latin typeface="Consolas"/>
              </a:rPr>
              <a:t>END;</a:t>
            </a:r>
          </a:p>
          <a:p>
            <a:r>
              <a:rPr sz="1150">
                <a:solidFill>
                  <a:srgbClr val="D8E2F0"/>
                </a:solidFill>
                <a:latin typeface="Consolas"/>
              </a:rPr>
              <a:t>/</a:t>
            </a:r>
          </a:p>
        </p:txBody>
      </p:sp>
      <p:sp>
        <p:nvSpPr>
          <p:cNvPr id="9" name="Rounded Rectangle 8"/>
          <p:cNvSpPr/>
          <p:nvPr/>
        </p:nvSpPr>
        <p:spPr>
          <a:xfrm>
            <a:off x="7772400" y="1280160"/>
            <a:ext cx="3611880" cy="182880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3568" y="1389888"/>
            <a:ext cx="3209544" cy="365760"/>
          </a:xfrm>
          <a:prstGeom prst="rect">
            <a:avLst/>
          </a:prstGeom>
          <a:noFill/>
        </p:spPr>
        <p:txBody>
          <a:bodyPr wrap="square">
            <a:spAutoFit/>
          </a:bodyPr>
          <a:lstStyle/>
          <a:p>
            <a:pPr algn="l">
              <a:spcAft>
                <a:spcPts val="0"/>
              </a:spcAft>
            </a:pPr>
            <a:r>
              <a:rPr sz="1450" b="1">
                <a:solidFill>
                  <a:srgbClr val="1F3864"/>
                </a:solidFill>
                <a:latin typeface="Calibri"/>
              </a:rPr>
              <a:t>How it works</a:t>
            </a:r>
          </a:p>
        </p:txBody>
      </p:sp>
      <p:sp>
        <p:nvSpPr>
          <p:cNvPr id="11" name="TextBox 10"/>
          <p:cNvSpPr txBox="1"/>
          <p:nvPr/>
        </p:nvSpPr>
        <p:spPr>
          <a:xfrm>
            <a:off x="8046720" y="1783080"/>
            <a:ext cx="3108960" cy="1280160"/>
          </a:xfrm>
          <a:prstGeom prst="rect">
            <a:avLst/>
          </a:prstGeom>
          <a:noFill/>
        </p:spPr>
        <p:txBody>
          <a:bodyPr wrap="square">
            <a:spAutoFit/>
          </a:bodyPr>
          <a:lstStyle/>
          <a:p>
            <a:pPr algn="l">
              <a:spcAft>
                <a:spcPts val="500"/>
              </a:spcAft>
            </a:pPr>
            <a:r>
              <a:rPr sz="1200" b="0">
                <a:solidFill>
                  <a:srgbClr val="333333"/>
                </a:solidFill>
                <a:latin typeface="Calibri"/>
              </a:rPr>
              <a:t>•  Fires automatically on any change to BillItems</a:t>
            </a:r>
          </a:p>
          <a:p>
            <a:pPr algn="l">
              <a:spcAft>
                <a:spcPts val="500"/>
              </a:spcAft>
            </a:pPr>
            <a:r>
              <a:rPr sz="1200" b="0">
                <a:solidFill>
                  <a:srgbClr val="333333"/>
                </a:solidFill>
                <a:latin typeface="Calibri"/>
              </a:rPr>
              <a:t>•  Recomputes SUM(Price × Quantity) for every bill</a:t>
            </a:r>
          </a:p>
          <a:p>
            <a:pPr algn="l">
              <a:spcAft>
                <a:spcPts val="500"/>
              </a:spcAft>
            </a:pPr>
            <a:r>
              <a:rPr sz="1200" b="0">
                <a:solidFill>
                  <a:srgbClr val="333333"/>
                </a:solidFill>
                <a:latin typeface="Calibri"/>
              </a:rPr>
              <a:t>•  Writes the result into Bills.TotalAmount</a:t>
            </a:r>
          </a:p>
        </p:txBody>
      </p:sp>
      <p:sp>
        <p:nvSpPr>
          <p:cNvPr id="12" name="Rounded Rectangle 11"/>
          <p:cNvSpPr/>
          <p:nvPr/>
        </p:nvSpPr>
        <p:spPr>
          <a:xfrm>
            <a:off x="7772400" y="3291840"/>
            <a:ext cx="3611880" cy="169164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3568" y="3401568"/>
            <a:ext cx="3209544" cy="365760"/>
          </a:xfrm>
          <a:prstGeom prst="rect">
            <a:avLst/>
          </a:prstGeom>
          <a:noFill/>
        </p:spPr>
        <p:txBody>
          <a:bodyPr wrap="square">
            <a:spAutoFit/>
          </a:bodyPr>
          <a:lstStyle/>
          <a:p>
            <a:pPr algn="l">
              <a:spcAft>
                <a:spcPts val="0"/>
              </a:spcAft>
            </a:pPr>
            <a:r>
              <a:rPr sz="1450" b="1">
                <a:solidFill>
                  <a:srgbClr val="1F3864"/>
                </a:solidFill>
                <a:latin typeface="Calibri"/>
              </a:rPr>
              <a:t>Why statement-level?</a:t>
            </a:r>
          </a:p>
        </p:txBody>
      </p:sp>
      <p:sp>
        <p:nvSpPr>
          <p:cNvPr id="14" name="TextBox 13"/>
          <p:cNvSpPr txBox="1"/>
          <p:nvPr/>
        </p:nvSpPr>
        <p:spPr>
          <a:xfrm>
            <a:off x="8046720" y="3794760"/>
            <a:ext cx="3108960" cy="1097280"/>
          </a:xfrm>
          <a:prstGeom prst="rect">
            <a:avLst/>
          </a:prstGeom>
          <a:noFill/>
        </p:spPr>
        <p:txBody>
          <a:bodyPr wrap="square">
            <a:spAutoFit/>
          </a:bodyPr>
          <a:lstStyle/>
          <a:p>
            <a:pPr algn="l">
              <a:spcAft>
                <a:spcPts val="500"/>
              </a:spcAft>
            </a:pPr>
            <a:r>
              <a:rPr sz="1150" b="0">
                <a:solidFill>
                  <a:srgbClr val="333333"/>
                </a:solidFill>
                <a:latin typeface="Calibri"/>
              </a:rPr>
              <a:t>•  A row-level trigger would read the very table being changed → ORA-04091 mutating table.</a:t>
            </a:r>
          </a:p>
          <a:p>
            <a:pPr algn="l">
              <a:spcAft>
                <a:spcPts val="500"/>
              </a:spcAft>
            </a:pPr>
            <a:r>
              <a:rPr sz="1150" b="0">
                <a:solidFill>
                  <a:srgbClr val="333333"/>
                </a:solidFill>
                <a:latin typeface="Calibri"/>
              </a:rPr>
              <a:t>•  Firing once per statement avoids the error entirely.</a:t>
            </a:r>
          </a:p>
        </p:txBody>
      </p:sp>
      <p:sp>
        <p:nvSpPr>
          <p:cNvPr id="15" name="TextBox 14"/>
          <p:cNvSpPr txBox="1"/>
          <p:nvPr/>
        </p:nvSpPr>
        <p:spPr>
          <a:xfrm>
            <a:off x="822960" y="5212080"/>
            <a:ext cx="10515600" cy="1005840"/>
          </a:xfrm>
          <a:prstGeom prst="rect">
            <a:avLst/>
          </a:prstGeom>
          <a:noFill/>
        </p:spPr>
        <p:txBody>
          <a:bodyPr wrap="square">
            <a:spAutoFit/>
          </a:bodyPr>
          <a:lstStyle/>
          <a:p>
            <a:pPr algn="l">
              <a:spcAft>
                <a:spcPts val="0"/>
              </a:spcAft>
            </a:pPr>
            <a:r>
              <a:rPr sz="1450" b="1">
                <a:solidFill>
                  <a:srgbClr val="2E7D32"/>
                </a:solidFill>
                <a:latin typeface="Calibri"/>
              </a:rPr>
              <a:t>Result:  insert, update or delete a line item and the bill total updates itself — always exactly the sum of its 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Sample Data &amp; Verification</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Realistic rows, proven correct</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11</a:t>
            </a:r>
          </a:p>
        </p:txBody>
      </p:sp>
      <p:graphicFrame>
        <p:nvGraphicFramePr>
          <p:cNvPr id="8" name="Table 7"/>
          <p:cNvGraphicFramePr>
            <a:graphicFrameLocks noGrp="1"/>
          </p:cNvGraphicFramePr>
          <p:nvPr/>
        </p:nvGraphicFramePr>
        <p:xfrm>
          <a:off x="822960" y="1280160"/>
          <a:ext cx="4846320" cy="1865376"/>
        </p:xfrm>
        <a:graphic>
          <a:graphicData uri="http://schemas.openxmlformats.org/drawingml/2006/table">
            <a:tbl>
              <a:tblPr firstRow="1" bandRow="1">
                <a:tableStyleId>{5C22544A-7EE6-4342-B048-85BDC9FD1C3A}</a:tableStyleId>
              </a:tblPr>
              <a:tblGrid>
                <a:gridCol w="2651760"/>
                <a:gridCol w="1188720"/>
                <a:gridCol w="1005840"/>
              </a:tblGrid>
              <a:tr h="310896">
                <a:tc>
                  <a:txBody>
                    <a:bodyPr wrap="square"/>
                    <a:lstStyle/>
                    <a:p>
                      <a:r>
                        <a:rPr sz="1100" b="1">
                          <a:solidFill>
                            <a:srgbClr val="FFFFFF"/>
                          </a:solidFill>
                          <a:latin typeface="Calibri"/>
                        </a:rPr>
                        <a:t>Products</a:t>
                      </a:r>
                    </a:p>
                  </a:txBody>
                  <a:tcPr marT="12700" marB="12700" marL="88900" marR="63500">
                    <a:solidFill>
                      <a:srgbClr val="1F3864"/>
                    </a:solidFill>
                  </a:tcPr>
                </a:tc>
                <a:tc>
                  <a:txBody>
                    <a:bodyPr wrap="square"/>
                    <a:lstStyle/>
                    <a:p>
                      <a:r>
                        <a:rPr sz="1100" b="1">
                          <a:solidFill>
                            <a:srgbClr val="FFFFFF"/>
                          </a:solidFill>
                          <a:latin typeface="Calibri"/>
                        </a:rPr>
                        <a:t>Price (Rs)</a:t>
                      </a:r>
                    </a:p>
                  </a:txBody>
                  <a:tcPr marT="12700" marB="12700" marL="88900" marR="63500">
                    <a:solidFill>
                      <a:srgbClr val="1F3864"/>
                    </a:solidFill>
                  </a:tcPr>
                </a:tc>
                <a:tc>
                  <a:txBody>
                    <a:bodyPr wrap="square"/>
                    <a:lstStyle/>
                    <a:p>
                      <a:r>
                        <a:rPr sz="1100" b="1">
                          <a:solidFill>
                            <a:srgbClr val="FFFFFF"/>
                          </a:solidFill>
                          <a:latin typeface="Calibri"/>
                        </a:rPr>
                        <a:t>Stock</a:t>
                      </a:r>
                    </a:p>
                  </a:txBody>
                  <a:tcPr marT="12700" marB="12700" marL="88900" marR="63500">
                    <a:solidFill>
                      <a:srgbClr val="1F3864"/>
                    </a:solidFill>
                  </a:tcPr>
                </a:tc>
              </a:tr>
              <a:tr h="310896">
                <a:tc>
                  <a:txBody>
                    <a:bodyPr wrap="square"/>
                    <a:lstStyle/>
                    <a:p>
                      <a:r>
                        <a:rPr sz="1100" b="0">
                          <a:solidFill>
                            <a:srgbClr val="333333"/>
                          </a:solidFill>
                          <a:latin typeface="Calibri"/>
                        </a:rPr>
                        <a:t>Basmati Rice 5kg</a:t>
                      </a:r>
                    </a:p>
                  </a:txBody>
                  <a:tcPr marT="12700" marB="12700" marL="88900" marR="63500">
                    <a:solidFill>
                      <a:srgbClr val="FFFFFF"/>
                    </a:solidFill>
                  </a:tcPr>
                </a:tc>
                <a:tc>
                  <a:txBody>
                    <a:bodyPr wrap="square"/>
                    <a:lstStyle/>
                    <a:p>
                      <a:r>
                        <a:rPr sz="1100" b="0">
                          <a:solidFill>
                            <a:srgbClr val="333333"/>
                          </a:solidFill>
                          <a:latin typeface="Calibri"/>
                        </a:rPr>
                        <a:t>550.00</a:t>
                      </a:r>
                    </a:p>
                  </a:txBody>
                  <a:tcPr marT="12700" marB="12700" marL="88900" marR="63500">
                    <a:solidFill>
                      <a:srgbClr val="FFFFFF"/>
                    </a:solidFill>
                  </a:tcPr>
                </a:tc>
                <a:tc>
                  <a:txBody>
                    <a:bodyPr wrap="square"/>
                    <a:lstStyle/>
                    <a:p>
                      <a:r>
                        <a:rPr sz="1100" b="0">
                          <a:solidFill>
                            <a:srgbClr val="333333"/>
                          </a:solidFill>
                          <a:latin typeface="Calibri"/>
                        </a:rPr>
                        <a:t>40</a:t>
                      </a:r>
                    </a:p>
                  </a:txBody>
                  <a:tcPr marT="12700" marB="12700" marL="88900" marR="63500">
                    <a:solidFill>
                      <a:srgbClr val="FFFFFF"/>
                    </a:solidFill>
                  </a:tcPr>
                </a:tc>
              </a:tr>
              <a:tr h="310896">
                <a:tc>
                  <a:txBody>
                    <a:bodyPr wrap="square"/>
                    <a:lstStyle/>
                    <a:p>
                      <a:r>
                        <a:rPr sz="1100" b="0">
                          <a:solidFill>
                            <a:srgbClr val="333333"/>
                          </a:solidFill>
                          <a:latin typeface="Calibri"/>
                        </a:rPr>
                        <a:t>Coca Cola 750ml</a:t>
                      </a:r>
                    </a:p>
                  </a:txBody>
                  <a:tcPr marT="12700" marB="12700" marL="88900" marR="63500">
                    <a:solidFill>
                      <a:srgbClr val="F2F4F8"/>
                    </a:solidFill>
                  </a:tcPr>
                </a:tc>
                <a:tc>
                  <a:txBody>
                    <a:bodyPr wrap="square"/>
                    <a:lstStyle/>
                    <a:p>
                      <a:r>
                        <a:rPr sz="1100" b="0">
                          <a:solidFill>
                            <a:srgbClr val="333333"/>
                          </a:solidFill>
                          <a:latin typeface="Calibri"/>
                        </a:rPr>
                        <a:t>45.00</a:t>
                      </a:r>
                    </a:p>
                  </a:txBody>
                  <a:tcPr marT="12700" marB="12700" marL="88900" marR="63500">
                    <a:solidFill>
                      <a:srgbClr val="F2F4F8"/>
                    </a:solidFill>
                  </a:tcPr>
                </a:tc>
                <a:tc>
                  <a:txBody>
                    <a:bodyPr wrap="square"/>
                    <a:lstStyle/>
                    <a:p>
                      <a:r>
                        <a:rPr sz="1100" b="0">
                          <a:solidFill>
                            <a:srgbClr val="333333"/>
                          </a:solidFill>
                          <a:latin typeface="Calibri"/>
                        </a:rPr>
                        <a:t>120</a:t>
                      </a:r>
                    </a:p>
                  </a:txBody>
                  <a:tcPr marT="12700" marB="12700" marL="88900" marR="63500">
                    <a:solidFill>
                      <a:srgbClr val="F2F4F8"/>
                    </a:solidFill>
                  </a:tcPr>
                </a:tc>
              </a:tr>
              <a:tr h="310896">
                <a:tc>
                  <a:txBody>
                    <a:bodyPr wrap="square"/>
                    <a:lstStyle/>
                    <a:p>
                      <a:r>
                        <a:rPr sz="1100" b="0">
                          <a:solidFill>
                            <a:srgbClr val="333333"/>
                          </a:solidFill>
                          <a:latin typeface="Calibri"/>
                        </a:rPr>
                        <a:t>Potato Chips</a:t>
                      </a:r>
                    </a:p>
                  </a:txBody>
                  <a:tcPr marT="12700" marB="12700" marL="88900" marR="63500">
                    <a:solidFill>
                      <a:srgbClr val="FFFFFF"/>
                    </a:solidFill>
                  </a:tcPr>
                </a:tc>
                <a:tc>
                  <a:txBody>
                    <a:bodyPr wrap="square"/>
                    <a:lstStyle/>
                    <a:p>
                      <a:r>
                        <a:rPr sz="1100" b="0">
                          <a:solidFill>
                            <a:srgbClr val="333333"/>
                          </a:solidFill>
                          <a:latin typeface="Calibri"/>
                        </a:rPr>
                        <a:t>20.00</a:t>
                      </a:r>
                    </a:p>
                  </a:txBody>
                  <a:tcPr marT="12700" marB="12700" marL="88900" marR="63500">
                    <a:solidFill>
                      <a:srgbClr val="FFFFFF"/>
                    </a:solidFill>
                  </a:tcPr>
                </a:tc>
                <a:tc>
                  <a:txBody>
                    <a:bodyPr wrap="square"/>
                    <a:lstStyle/>
                    <a:p>
                      <a:r>
                        <a:rPr sz="1100" b="0">
                          <a:solidFill>
                            <a:srgbClr val="333333"/>
                          </a:solidFill>
                          <a:latin typeface="Calibri"/>
                        </a:rPr>
                        <a:t>200</a:t>
                      </a:r>
                    </a:p>
                  </a:txBody>
                  <a:tcPr marT="12700" marB="12700" marL="88900" marR="63500">
                    <a:solidFill>
                      <a:srgbClr val="FFFFFF"/>
                    </a:solidFill>
                  </a:tcPr>
                </a:tc>
              </a:tr>
              <a:tr h="310896">
                <a:tc>
                  <a:txBody>
                    <a:bodyPr wrap="square"/>
                    <a:lstStyle/>
                    <a:p>
                      <a:r>
                        <a:rPr sz="1100" b="0">
                          <a:solidFill>
                            <a:srgbClr val="333333"/>
                          </a:solidFill>
                          <a:latin typeface="Calibri"/>
                        </a:rPr>
                        <a:t>Amul Milk 500ml</a:t>
                      </a:r>
                    </a:p>
                  </a:txBody>
                  <a:tcPr marT="12700" marB="12700" marL="88900" marR="63500">
                    <a:solidFill>
                      <a:srgbClr val="F2F4F8"/>
                    </a:solidFill>
                  </a:tcPr>
                </a:tc>
                <a:tc>
                  <a:txBody>
                    <a:bodyPr wrap="square"/>
                    <a:lstStyle/>
                    <a:p>
                      <a:r>
                        <a:rPr sz="1100" b="0">
                          <a:solidFill>
                            <a:srgbClr val="333333"/>
                          </a:solidFill>
                          <a:latin typeface="Calibri"/>
                        </a:rPr>
                        <a:t>26.00</a:t>
                      </a:r>
                    </a:p>
                  </a:txBody>
                  <a:tcPr marT="12700" marB="12700" marL="88900" marR="63500">
                    <a:solidFill>
                      <a:srgbClr val="F2F4F8"/>
                    </a:solidFill>
                  </a:tcPr>
                </a:tc>
                <a:tc>
                  <a:txBody>
                    <a:bodyPr wrap="square"/>
                    <a:lstStyle/>
                    <a:p>
                      <a:r>
                        <a:rPr sz="1100" b="0">
                          <a:solidFill>
                            <a:srgbClr val="333333"/>
                          </a:solidFill>
                          <a:latin typeface="Calibri"/>
                        </a:rPr>
                        <a:t>80</a:t>
                      </a:r>
                    </a:p>
                  </a:txBody>
                  <a:tcPr marT="12700" marB="12700" marL="88900" marR="63500">
                    <a:solidFill>
                      <a:srgbClr val="F2F4F8"/>
                    </a:solidFill>
                  </a:tcPr>
                </a:tc>
              </a:tr>
              <a:tr h="310896">
                <a:tc>
                  <a:txBody>
                    <a:bodyPr wrap="square"/>
                    <a:lstStyle/>
                    <a:p>
                      <a:r>
                        <a:rPr sz="1100" b="0">
                          <a:solidFill>
                            <a:srgbClr val="333333"/>
                          </a:solidFill>
                          <a:latin typeface="Calibri"/>
                        </a:rPr>
                        <a:t>Toothpaste 100g</a:t>
                      </a:r>
                    </a:p>
                  </a:txBody>
                  <a:tcPr marT="12700" marB="12700" marL="88900" marR="63500">
                    <a:solidFill>
                      <a:srgbClr val="FFFFFF"/>
                    </a:solidFill>
                  </a:tcPr>
                </a:tc>
                <a:tc>
                  <a:txBody>
                    <a:bodyPr wrap="square"/>
                    <a:lstStyle/>
                    <a:p>
                      <a:r>
                        <a:rPr sz="1100" b="0">
                          <a:solidFill>
                            <a:srgbClr val="333333"/>
                          </a:solidFill>
                          <a:latin typeface="Calibri"/>
                        </a:rPr>
                        <a:t>65.00</a:t>
                      </a:r>
                    </a:p>
                  </a:txBody>
                  <a:tcPr marT="12700" marB="12700" marL="88900" marR="63500">
                    <a:solidFill>
                      <a:srgbClr val="FFFFFF"/>
                    </a:solidFill>
                  </a:tcPr>
                </a:tc>
                <a:tc>
                  <a:txBody>
                    <a:bodyPr wrap="square"/>
                    <a:lstStyle/>
                    <a:p>
                      <a:r>
                        <a:rPr sz="1100" b="0">
                          <a:solidFill>
                            <a:srgbClr val="333333"/>
                          </a:solidFill>
                          <a:latin typeface="Calibri"/>
                        </a:rPr>
                        <a:t>60</a:t>
                      </a:r>
                    </a:p>
                  </a:txBody>
                  <a:tcPr marT="12700" marB="12700" marL="88900" marR="63500">
                    <a:solidFill>
                      <a:srgbClr val="FFFFFF"/>
                    </a:solidFill>
                  </a:tcPr>
                </a:tc>
              </a:tr>
            </a:tbl>
          </a:graphicData>
        </a:graphic>
      </p:graphicFrame>
      <p:graphicFrame>
        <p:nvGraphicFramePr>
          <p:cNvPr id="9" name="Table 8"/>
          <p:cNvGraphicFramePr>
            <a:graphicFrameLocks noGrp="1"/>
          </p:cNvGraphicFramePr>
          <p:nvPr/>
        </p:nvGraphicFramePr>
        <p:xfrm>
          <a:off x="4892040" y="1280160"/>
          <a:ext cx="4754880" cy="932688"/>
        </p:xfrm>
        <a:graphic>
          <a:graphicData uri="http://schemas.openxmlformats.org/drawingml/2006/table">
            <a:tbl>
              <a:tblPr firstRow="1" bandRow="1">
                <a:tableStyleId>{5C22544A-7EE6-4342-B048-85BDC9FD1C3A}</a:tableStyleId>
              </a:tblPr>
              <a:tblGrid>
                <a:gridCol w="1188720"/>
                <a:gridCol w="1325880"/>
                <a:gridCol w="1325880"/>
                <a:gridCol w="914400"/>
              </a:tblGrid>
              <a:tr h="310896">
                <a:tc>
                  <a:txBody>
                    <a:bodyPr wrap="square"/>
                    <a:lstStyle/>
                    <a:p>
                      <a:r>
                        <a:rPr sz="1100" b="1">
                          <a:solidFill>
                            <a:srgbClr val="FFFFFF"/>
                          </a:solidFill>
                          <a:latin typeface="Calibri"/>
                        </a:rPr>
                        <a:t>BillID</a:t>
                      </a:r>
                    </a:p>
                  </a:txBody>
                  <a:tcPr marT="12700" marB="12700" marL="88900" marR="63500">
                    <a:solidFill>
                      <a:srgbClr val="1F3864"/>
                    </a:solidFill>
                  </a:tcPr>
                </a:tc>
                <a:tc>
                  <a:txBody>
                    <a:bodyPr wrap="square"/>
                    <a:lstStyle/>
                    <a:p>
                      <a:r>
                        <a:rPr sz="1100" b="1">
                          <a:solidFill>
                            <a:srgbClr val="FFFFFF"/>
                          </a:solidFill>
                          <a:latin typeface="Calibri"/>
                        </a:rPr>
                        <a:t>TotalAmount</a:t>
                      </a:r>
                    </a:p>
                  </a:txBody>
                  <a:tcPr marT="12700" marB="12700" marL="88900" marR="63500">
                    <a:solidFill>
                      <a:srgbClr val="1F3864"/>
                    </a:solidFill>
                  </a:tcPr>
                </a:tc>
                <a:tc>
                  <a:txBody>
                    <a:bodyPr wrap="square"/>
                    <a:lstStyle/>
                    <a:p>
                      <a:r>
                        <a:rPr sz="1100" b="1">
                          <a:solidFill>
                            <a:srgbClr val="FFFFFF"/>
                          </a:solidFill>
                          <a:latin typeface="Calibri"/>
                        </a:rPr>
                        <a:t>SUM(items)</a:t>
                      </a:r>
                    </a:p>
                  </a:txBody>
                  <a:tcPr marT="12700" marB="12700" marL="88900" marR="63500">
                    <a:solidFill>
                      <a:srgbClr val="1F3864"/>
                    </a:solidFill>
                  </a:tcPr>
                </a:tc>
                <a:tc>
                  <a:txBody>
                    <a:bodyPr wrap="square"/>
                    <a:lstStyle/>
                    <a:p>
                      <a:r>
                        <a:rPr sz="1100" b="1">
                          <a:solidFill>
                            <a:srgbClr val="FFFFFF"/>
                          </a:solidFill>
                          <a:latin typeface="Calibri"/>
                        </a:rPr>
                        <a:t>Match</a:t>
                      </a:r>
                    </a:p>
                  </a:txBody>
                  <a:tcPr marT="12700" marB="12700" marL="88900" marR="63500">
                    <a:solidFill>
                      <a:srgbClr val="1F3864"/>
                    </a:solidFill>
                  </a:tcPr>
                </a:tc>
              </a:tr>
              <a:tr h="310896">
                <a:tc>
                  <a:txBody>
                    <a:bodyPr wrap="square"/>
                    <a:lstStyle/>
                    <a:p>
                      <a:r>
                        <a:rPr sz="1100" b="0">
                          <a:solidFill>
                            <a:srgbClr val="333333"/>
                          </a:solidFill>
                          <a:latin typeface="Calibri"/>
                        </a:rPr>
                        <a:t>1001</a:t>
                      </a:r>
                    </a:p>
                  </a:txBody>
                  <a:tcPr marT="12700" marB="12700" marL="88900" marR="63500">
                    <a:solidFill>
                      <a:srgbClr val="FFFFFF"/>
                    </a:solidFill>
                  </a:tcPr>
                </a:tc>
                <a:tc>
                  <a:txBody>
                    <a:bodyPr wrap="square"/>
                    <a:lstStyle/>
                    <a:p>
                      <a:r>
                        <a:rPr sz="1100" b="0">
                          <a:solidFill>
                            <a:srgbClr val="333333"/>
                          </a:solidFill>
                          <a:latin typeface="Calibri"/>
                        </a:rPr>
                        <a:t>655.00</a:t>
                      </a:r>
                    </a:p>
                  </a:txBody>
                  <a:tcPr marT="12700" marB="12700" marL="88900" marR="63500">
                    <a:solidFill>
                      <a:srgbClr val="FFFFFF"/>
                    </a:solidFill>
                  </a:tcPr>
                </a:tc>
                <a:tc>
                  <a:txBody>
                    <a:bodyPr wrap="square"/>
                    <a:lstStyle/>
                    <a:p>
                      <a:r>
                        <a:rPr sz="1100" b="0">
                          <a:solidFill>
                            <a:srgbClr val="333333"/>
                          </a:solidFill>
                          <a:latin typeface="Calibri"/>
                        </a:rPr>
                        <a:t>655.00</a:t>
                      </a:r>
                    </a:p>
                  </a:txBody>
                  <a:tcPr marT="12700" marB="12700" marL="88900" marR="63500">
                    <a:solidFill>
                      <a:srgbClr val="FFFFFF"/>
                    </a:solidFill>
                  </a:tcPr>
                </a:tc>
                <a:tc>
                  <a:txBody>
                    <a:bodyPr wrap="square"/>
                    <a:lstStyle/>
                    <a:p>
                      <a:r>
                        <a:rPr sz="1100" b="0">
                          <a:solidFill>
                            <a:srgbClr val="333333"/>
                          </a:solidFill>
                          <a:latin typeface="Calibri"/>
                        </a:rPr>
                        <a:t>Yes</a:t>
                      </a:r>
                    </a:p>
                  </a:txBody>
                  <a:tcPr marT="12700" marB="12700" marL="88900" marR="63500">
                    <a:solidFill>
                      <a:srgbClr val="FFFFFF"/>
                    </a:solidFill>
                  </a:tcPr>
                </a:tc>
              </a:tr>
              <a:tr h="310896">
                <a:tc>
                  <a:txBody>
                    <a:bodyPr wrap="square"/>
                    <a:lstStyle/>
                    <a:p>
                      <a:r>
                        <a:rPr sz="1100" b="0">
                          <a:solidFill>
                            <a:srgbClr val="333333"/>
                          </a:solidFill>
                          <a:latin typeface="Calibri"/>
                        </a:rPr>
                        <a:t>1002</a:t>
                      </a:r>
                    </a:p>
                  </a:txBody>
                  <a:tcPr marT="12700" marB="12700" marL="88900" marR="63500">
                    <a:solidFill>
                      <a:srgbClr val="F2F4F8"/>
                    </a:solidFill>
                  </a:tcPr>
                </a:tc>
                <a:tc>
                  <a:txBody>
                    <a:bodyPr wrap="square"/>
                    <a:lstStyle/>
                    <a:p>
                      <a:r>
                        <a:rPr sz="1100" b="0">
                          <a:solidFill>
                            <a:srgbClr val="333333"/>
                          </a:solidFill>
                          <a:latin typeface="Calibri"/>
                        </a:rPr>
                        <a:t>97.00</a:t>
                      </a:r>
                    </a:p>
                  </a:txBody>
                  <a:tcPr marT="12700" marB="12700" marL="88900" marR="63500">
                    <a:solidFill>
                      <a:srgbClr val="F2F4F8"/>
                    </a:solidFill>
                  </a:tcPr>
                </a:tc>
                <a:tc>
                  <a:txBody>
                    <a:bodyPr wrap="square"/>
                    <a:lstStyle/>
                    <a:p>
                      <a:r>
                        <a:rPr sz="1100" b="0">
                          <a:solidFill>
                            <a:srgbClr val="333333"/>
                          </a:solidFill>
                          <a:latin typeface="Calibri"/>
                        </a:rPr>
                        <a:t>97.00</a:t>
                      </a:r>
                    </a:p>
                  </a:txBody>
                  <a:tcPr marT="12700" marB="12700" marL="88900" marR="63500">
                    <a:solidFill>
                      <a:srgbClr val="F2F4F8"/>
                    </a:solidFill>
                  </a:tcPr>
                </a:tc>
                <a:tc>
                  <a:txBody>
                    <a:bodyPr wrap="square"/>
                    <a:lstStyle/>
                    <a:p>
                      <a:r>
                        <a:rPr sz="1100" b="0">
                          <a:solidFill>
                            <a:srgbClr val="333333"/>
                          </a:solidFill>
                          <a:latin typeface="Calibri"/>
                        </a:rPr>
                        <a:t>Yes</a:t>
                      </a:r>
                    </a:p>
                  </a:txBody>
                  <a:tcPr marT="12700" marB="12700" marL="88900" marR="63500">
                    <a:solidFill>
                      <a:srgbClr val="F2F4F8"/>
                    </a:solidFill>
                  </a:tcPr>
                </a:tc>
              </a:tr>
            </a:tbl>
          </a:graphicData>
        </a:graphic>
      </p:graphicFrame>
      <p:sp>
        <p:nvSpPr>
          <p:cNvPr id="10" name="TextBox 9"/>
          <p:cNvSpPr txBox="1"/>
          <p:nvPr/>
        </p:nvSpPr>
        <p:spPr>
          <a:xfrm>
            <a:off x="822960" y="3429000"/>
            <a:ext cx="10515600" cy="365760"/>
          </a:xfrm>
          <a:prstGeom prst="rect">
            <a:avLst/>
          </a:prstGeom>
          <a:noFill/>
        </p:spPr>
        <p:txBody>
          <a:bodyPr wrap="square">
            <a:spAutoFit/>
          </a:bodyPr>
          <a:lstStyle/>
          <a:p>
            <a:pPr algn="l">
              <a:spcAft>
                <a:spcPts val="0"/>
              </a:spcAft>
            </a:pPr>
            <a:r>
              <a:rPr sz="1350" b="1">
                <a:solidFill>
                  <a:srgbClr val="1F3864"/>
                </a:solidFill>
                <a:latin typeface="Calibri"/>
              </a:rPr>
              <a:t>5 categories • 2 suppliers • 5 products • 3 customers • 2 bills • 5 bill items</a:t>
            </a:r>
          </a:p>
        </p:txBody>
      </p:sp>
      <p:sp>
        <p:nvSpPr>
          <p:cNvPr id="11" name="Rounded Rectangle 10"/>
          <p:cNvSpPr/>
          <p:nvPr/>
        </p:nvSpPr>
        <p:spPr>
          <a:xfrm>
            <a:off x="822960" y="3931920"/>
            <a:ext cx="10515600" cy="210312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200">
                <a:solidFill>
                  <a:srgbClr val="8FA8C9"/>
                </a:solidFill>
                <a:latin typeface="Consolas"/>
              </a:rPr>
              <a:t>-- The verification query: TotalAmount must equal the sum of the lines</a:t>
            </a:r>
          </a:p>
          <a:p>
            <a:r>
              <a:rPr sz="1200">
                <a:solidFill>
                  <a:srgbClr val="D8E2F0"/>
                </a:solidFill>
                <a:latin typeface="Consolas"/>
              </a:rPr>
              <a:t>SELECT b.BillID, b.TotalAmount, SUM(i.Price * i.Quantity) AS SumOfItems</a:t>
            </a:r>
          </a:p>
          <a:p>
            <a:r>
              <a:rPr sz="1200">
                <a:solidFill>
                  <a:srgbClr val="D8E2F0"/>
                </a:solidFill>
                <a:latin typeface="Consolas"/>
              </a:rPr>
              <a:t>FROM Bills b JOIN BillItems i ON b.BillID = i.BillID</a:t>
            </a:r>
          </a:p>
          <a:p>
            <a:r>
              <a:rPr sz="1200">
                <a:solidFill>
                  <a:srgbClr val="D8E2F0"/>
                </a:solidFill>
                <a:latin typeface="Consolas"/>
              </a:rPr>
              <a:t>GROUP BY b.BillID, b.TotalAmount;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Bill Receipt Generation</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A formatted receipt straight from SQL*Plus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12</a:t>
            </a:r>
          </a:p>
        </p:txBody>
      </p:sp>
      <p:sp>
        <p:nvSpPr>
          <p:cNvPr id="8" name="Rounded Rectangle 7"/>
          <p:cNvSpPr/>
          <p:nvPr/>
        </p:nvSpPr>
        <p:spPr>
          <a:xfrm>
            <a:off x="822960" y="1234440"/>
            <a:ext cx="5577840" cy="196596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D8E2F0"/>
                </a:solidFill>
                <a:latin typeface="Consolas"/>
              </a:rPr>
              <a:t>sqlplus -S System/aditya</a:t>
            </a:r>
          </a:p>
          <a:p>
            <a:r>
              <a:rPr sz="1100">
                <a:solidFill>
                  <a:srgbClr val="D8E2F0"/>
                </a:solidFill>
                <a:latin typeface="Consolas"/>
              </a:rPr>
              <a:t>  "@bill_script.sql" 1001</a:t>
            </a:r>
          </a:p>
          <a:p>
            <a:r>
              <a:rPr sz="1100">
                <a:solidFill>
                  <a:srgbClr val="D8E2F0"/>
                </a:solidFill>
                <a:latin typeface="Consolas"/>
              </a:rPr>
              <a:t/>
            </a:r>
          </a:p>
          <a:p>
            <a:r>
              <a:rPr sz="1100">
                <a:solidFill>
                  <a:srgbClr val="8FA8C9"/>
                </a:solidFill>
                <a:latin typeface="Consolas"/>
              </a:rPr>
              <a:t>-- SQL*Plus formatting</a:t>
            </a:r>
          </a:p>
          <a:p>
            <a:r>
              <a:rPr sz="1100">
                <a:solidFill>
                  <a:srgbClr val="D8E2F0"/>
                </a:solidFill>
                <a:latin typeface="Consolas"/>
              </a:rPr>
              <a:t>COLUMN ProductName FORMAT A24</a:t>
            </a:r>
          </a:p>
          <a:p>
            <a:r>
              <a:rPr sz="1100">
                <a:solidFill>
                  <a:srgbClr val="D8E2F0"/>
                </a:solidFill>
                <a:latin typeface="Consolas"/>
              </a:rPr>
              <a:t>COLUMN Amount FORMAT 999990.00</a:t>
            </a:r>
          </a:p>
          <a:p>
            <a:r>
              <a:rPr sz="1100">
                <a:solidFill>
                  <a:srgbClr val="D8E2F0"/>
                </a:solidFill>
                <a:latin typeface="Consolas"/>
              </a:rPr>
              <a:t>BREAK ON REPORT</a:t>
            </a:r>
          </a:p>
          <a:p>
            <a:r>
              <a:rPr sz="1100">
                <a:solidFill>
                  <a:srgbClr val="D8E2F0"/>
                </a:solidFill>
                <a:latin typeface="Consolas"/>
              </a:rPr>
              <a:t>COMPUTE SUM LABEL 'GRAND TOTAL'</a:t>
            </a:r>
          </a:p>
          <a:p>
            <a:r>
              <a:rPr sz="1100">
                <a:solidFill>
                  <a:srgbClr val="D8E2F0"/>
                </a:solidFill>
                <a:latin typeface="Consolas"/>
              </a:rPr>
              <a:t>  OF Amount ON REPORT</a:t>
            </a:r>
          </a:p>
        </p:txBody>
      </p:sp>
      <p:sp>
        <p:nvSpPr>
          <p:cNvPr id="9" name="Rounded Rectangle 8"/>
          <p:cNvSpPr/>
          <p:nvPr/>
        </p:nvSpPr>
        <p:spPr>
          <a:xfrm>
            <a:off x="6720840" y="1234440"/>
            <a:ext cx="4663440" cy="4160520"/>
          </a:xfrm>
          <a:prstGeom prst="roundRect">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128016"/>
          <a:lstStyle/>
          <a:p>
            <a:pPr algn="ctr">
              <a:spcAft>
                <a:spcPts val="200"/>
              </a:spcAft>
            </a:pPr>
            <a:r>
              <a:rPr sz="1300" b="1">
                <a:solidFill>
                  <a:srgbClr val="1F3864"/>
                </a:solidFill>
                <a:latin typeface="Consolas"/>
              </a:rPr>
              <a:t>SHREE MART</a:t>
            </a:r>
          </a:p>
          <a:p>
            <a:pPr algn="ctr">
              <a:spcAft>
                <a:spcPts val="200"/>
              </a:spcAft>
            </a:pPr>
            <a:r>
              <a:rPr sz="1100" b="1">
                <a:solidFill>
                  <a:srgbClr val="ED7D31"/>
                </a:solidFill>
                <a:latin typeface="Consolas"/>
              </a:rPr>
              <a:t>Retail Store Bill</a:t>
            </a:r>
          </a:p>
          <a:p>
            <a:pPr>
              <a:spcAft>
                <a:spcPts val="200"/>
              </a:spcAft>
            </a:pPr>
            <a:r>
              <a:rPr sz="950" b="0">
                <a:solidFill>
                  <a:srgbClr val="333333"/>
                </a:solidFill>
                <a:latin typeface="Consolas"/>
              </a:rPr>
              <a:t>Bill No: 1001   Date: 01-AUG-2026</a:t>
            </a:r>
          </a:p>
          <a:p>
            <a:pPr>
              <a:spcAft>
                <a:spcPts val="200"/>
              </a:spcAft>
            </a:pPr>
            <a:r>
              <a:rPr sz="950" b="0">
                <a:solidFill>
                  <a:srgbClr val="333333"/>
                </a:solidFill>
                <a:latin typeface="Consolas"/>
              </a:rPr>
              <a:t>Customer: Rahul Sharma (9812345678)</a:t>
            </a:r>
          </a:p>
          <a:p>
            <a:pPr>
              <a:spcAft>
                <a:spcPts val="200"/>
              </a:spcAft>
            </a:pPr>
            <a:r>
              <a:rPr sz="950" b="0">
                <a:solidFill>
                  <a:srgbClr val="6E7582"/>
                </a:solidFill>
                <a:latin typeface="Consolas"/>
              </a:rPr>
              <a:t>-------------------------------------------------</a:t>
            </a:r>
          </a:p>
          <a:p>
            <a:pPr>
              <a:spcAft>
                <a:spcPts val="200"/>
              </a:spcAft>
            </a:pPr>
            <a:r>
              <a:rPr sz="950" b="1">
                <a:solidFill>
                  <a:srgbClr val="1F3864"/>
                </a:solidFill>
                <a:latin typeface="Consolas"/>
              </a:rPr>
              <a:t>PRODUCT             QTY  PRICE   AMOUNT</a:t>
            </a:r>
          </a:p>
          <a:p>
            <a:pPr>
              <a:spcAft>
                <a:spcPts val="200"/>
              </a:spcAft>
            </a:pPr>
            <a:r>
              <a:rPr sz="950" b="0">
                <a:solidFill>
                  <a:srgbClr val="333333"/>
                </a:solidFill>
                <a:latin typeface="Consolas"/>
              </a:rPr>
              <a:t>Basmati Rice 5kg      1 550.00  550.00</a:t>
            </a:r>
          </a:p>
          <a:p>
            <a:pPr>
              <a:spcAft>
                <a:spcPts val="200"/>
              </a:spcAft>
            </a:pPr>
            <a:r>
              <a:rPr sz="950" b="0">
                <a:solidFill>
                  <a:srgbClr val="333333"/>
                </a:solidFill>
                <a:latin typeface="Consolas"/>
              </a:rPr>
              <a:t>Potato Chips          2  20.00   40.00</a:t>
            </a:r>
          </a:p>
          <a:p>
            <a:pPr>
              <a:spcAft>
                <a:spcPts val="200"/>
              </a:spcAft>
            </a:pPr>
            <a:r>
              <a:rPr sz="950" b="0">
                <a:solidFill>
                  <a:srgbClr val="333333"/>
                </a:solidFill>
                <a:latin typeface="Consolas"/>
              </a:rPr>
              <a:t>Toothpaste 100g       1  65.00   65.00</a:t>
            </a:r>
          </a:p>
          <a:p>
            <a:pPr>
              <a:spcAft>
                <a:spcPts val="200"/>
              </a:spcAft>
            </a:pPr>
            <a:r>
              <a:rPr sz="950" b="0">
                <a:solidFill>
                  <a:srgbClr val="6E7582"/>
                </a:solidFill>
                <a:latin typeface="Consolas"/>
              </a:rPr>
              <a:t>-------------------------------------------------</a:t>
            </a:r>
          </a:p>
          <a:p>
            <a:pPr>
              <a:spcAft>
                <a:spcPts val="200"/>
              </a:spcAft>
            </a:pPr>
            <a:r>
              <a:rPr sz="1000" b="1">
                <a:solidFill>
                  <a:srgbClr val="ED7D31"/>
                </a:solidFill>
                <a:latin typeface="Consolas"/>
              </a:rPr>
              <a:t>GRAND TOTAL                    655.00</a:t>
            </a:r>
          </a:p>
          <a:p>
            <a:pPr algn="ctr">
              <a:spcAft>
                <a:spcPts val="200"/>
              </a:spcAft>
            </a:pPr>
            <a:r>
              <a:rPr sz="950" b="0">
                <a:solidFill>
                  <a:srgbClr val="6E7582"/>
                </a:solidFill>
                <a:latin typeface="Consolas"/>
              </a:rPr>
              <a:t>Thank you for shopping!</a:t>
            </a:r>
          </a:p>
        </p:txBody>
      </p:sp>
      <p:sp>
        <p:nvSpPr>
          <p:cNvPr id="10" name="Rounded Rectangle 9"/>
          <p:cNvSpPr/>
          <p:nvPr/>
        </p:nvSpPr>
        <p:spPr>
          <a:xfrm>
            <a:off x="822960" y="3429000"/>
            <a:ext cx="5577840" cy="196596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538728"/>
            <a:ext cx="5175503" cy="365760"/>
          </a:xfrm>
          <a:prstGeom prst="rect">
            <a:avLst/>
          </a:prstGeom>
          <a:noFill/>
        </p:spPr>
        <p:txBody>
          <a:bodyPr wrap="square">
            <a:spAutoFit/>
          </a:bodyPr>
          <a:lstStyle/>
          <a:p>
            <a:pPr algn="l">
              <a:spcAft>
                <a:spcPts val="0"/>
              </a:spcAft>
            </a:pPr>
            <a:r>
              <a:rPr sz="1450" b="1">
                <a:solidFill>
                  <a:srgbClr val="1F3864"/>
                </a:solidFill>
                <a:latin typeface="Calibri"/>
              </a:rPr>
              <a:t>What happens behind the scenes</a:t>
            </a:r>
          </a:p>
        </p:txBody>
      </p:sp>
      <p:sp>
        <p:nvSpPr>
          <p:cNvPr id="12" name="TextBox 11"/>
          <p:cNvSpPr txBox="1"/>
          <p:nvPr/>
        </p:nvSpPr>
        <p:spPr>
          <a:xfrm>
            <a:off x="1051560" y="3931920"/>
            <a:ext cx="5120640" cy="1371600"/>
          </a:xfrm>
          <a:prstGeom prst="rect">
            <a:avLst/>
          </a:prstGeom>
          <a:noFill/>
        </p:spPr>
        <p:txBody>
          <a:bodyPr wrap="square">
            <a:spAutoFit/>
          </a:bodyPr>
          <a:lstStyle/>
          <a:p>
            <a:pPr algn="l">
              <a:spcAft>
                <a:spcPts val="500"/>
              </a:spcAft>
            </a:pPr>
            <a:r>
              <a:rPr sz="1150" b="0">
                <a:solidFill>
                  <a:srgbClr val="333333"/>
                </a:solidFill>
                <a:latin typeface="Calibri"/>
              </a:rPr>
              <a:t>•  Query joins Bills, Customers, BillItems and Products</a:t>
            </a:r>
          </a:p>
          <a:p>
            <a:pPr algn="l">
              <a:spcAft>
                <a:spcPts val="500"/>
              </a:spcAft>
            </a:pPr>
            <a:r>
              <a:rPr sz="1150" b="0">
                <a:solidFill>
                  <a:srgbClr val="333333"/>
                </a:solidFill>
                <a:latin typeface="Calibri"/>
              </a:rPr>
              <a:t>•  TotalAmount comes from the trigger — receipt always matches the database</a:t>
            </a:r>
          </a:p>
          <a:p>
            <a:pPr algn="l">
              <a:spcAft>
                <a:spcPts val="500"/>
              </a:spcAft>
            </a:pPr>
            <a:r>
              <a:rPr sz="1150" b="0">
                <a:solidFill>
                  <a:srgbClr val="333333"/>
                </a:solidFill>
                <a:latin typeface="Calibri"/>
              </a:rPr>
              <a:t>•  Works for any BillID — just change the argument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How to Run the Project</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Two commands, nothing else</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13</a:t>
            </a:r>
          </a:p>
        </p:txBody>
      </p:sp>
      <p:sp>
        <p:nvSpPr>
          <p:cNvPr id="8" name="Rounded Rectangle 7"/>
          <p:cNvSpPr/>
          <p:nvPr/>
        </p:nvSpPr>
        <p:spPr>
          <a:xfrm>
            <a:off x="822960" y="1280160"/>
            <a:ext cx="5303520" cy="237744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389888"/>
            <a:ext cx="4901183" cy="365760"/>
          </a:xfrm>
          <a:prstGeom prst="rect">
            <a:avLst/>
          </a:prstGeom>
          <a:noFill/>
        </p:spPr>
        <p:txBody>
          <a:bodyPr wrap="square">
            <a:spAutoFit/>
          </a:bodyPr>
          <a:lstStyle/>
          <a:p>
            <a:pPr algn="l">
              <a:spcAft>
                <a:spcPts val="0"/>
              </a:spcAft>
            </a:pPr>
            <a:r>
              <a:rPr sz="1450" b="1">
                <a:solidFill>
                  <a:srgbClr val="1F3864"/>
                </a:solidFill>
                <a:latin typeface="Calibri"/>
              </a:rPr>
              <a:t>Step 1 — Create / reset the database</a:t>
            </a:r>
          </a:p>
        </p:txBody>
      </p:sp>
      <p:sp>
        <p:nvSpPr>
          <p:cNvPr id="10" name="Rounded Rectangle 9"/>
          <p:cNvSpPr/>
          <p:nvPr/>
        </p:nvSpPr>
        <p:spPr>
          <a:xfrm>
            <a:off x="1051560" y="1828800"/>
            <a:ext cx="4846320" cy="9144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50">
                <a:solidFill>
                  <a:srgbClr val="D8E2F0"/>
                </a:solidFill>
                <a:latin typeface="Consolas"/>
              </a:rPr>
              <a:t>sqlplus -S System/aditya</a:t>
            </a:r>
          </a:p>
          <a:p>
            <a:r>
              <a:rPr sz="1150">
                <a:solidFill>
                  <a:srgbClr val="D8E2F0"/>
                </a:solidFill>
                <a:latin typeface="Consolas"/>
              </a:rPr>
              <a:t>  "@store_database.sql" </a:t>
            </a:r>
          </a:p>
        </p:txBody>
      </p:sp>
      <p:sp>
        <p:nvSpPr>
          <p:cNvPr id="11" name="TextBox 10"/>
          <p:cNvSpPr txBox="1"/>
          <p:nvPr/>
        </p:nvSpPr>
        <p:spPr>
          <a:xfrm>
            <a:off x="1051560" y="2880360"/>
            <a:ext cx="4846320" cy="640080"/>
          </a:xfrm>
          <a:prstGeom prst="rect">
            <a:avLst/>
          </a:prstGeom>
          <a:noFill/>
        </p:spPr>
        <p:txBody>
          <a:bodyPr wrap="square">
            <a:spAutoFit/>
          </a:bodyPr>
          <a:lstStyle/>
          <a:p>
            <a:pPr algn="l">
              <a:spcAft>
                <a:spcPts val="0"/>
              </a:spcAft>
            </a:pPr>
            <a:r>
              <a:rPr sz="1100" b="0">
                <a:solidFill>
                  <a:srgbClr val="6E7582"/>
                </a:solidFill>
                <a:latin typeface="Calibri"/>
              </a:rPr>
              <a:t>Drops old tables, creates all 6, creates the trigger, loads sample data, verifies.</a:t>
            </a:r>
          </a:p>
        </p:txBody>
      </p:sp>
      <p:sp>
        <p:nvSpPr>
          <p:cNvPr id="12" name="Rounded Rectangle 11"/>
          <p:cNvSpPr/>
          <p:nvPr/>
        </p:nvSpPr>
        <p:spPr>
          <a:xfrm>
            <a:off x="6355080" y="1280160"/>
            <a:ext cx="5029200" cy="237744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1389888"/>
            <a:ext cx="4626864" cy="365760"/>
          </a:xfrm>
          <a:prstGeom prst="rect">
            <a:avLst/>
          </a:prstGeom>
          <a:noFill/>
        </p:spPr>
        <p:txBody>
          <a:bodyPr wrap="square">
            <a:spAutoFit/>
          </a:bodyPr>
          <a:lstStyle/>
          <a:p>
            <a:pPr algn="l">
              <a:spcAft>
                <a:spcPts val="0"/>
              </a:spcAft>
            </a:pPr>
            <a:r>
              <a:rPr sz="1450" b="1">
                <a:solidFill>
                  <a:srgbClr val="1F3864"/>
                </a:solidFill>
                <a:latin typeface="Calibri"/>
              </a:rPr>
              <a:t>Step 2 — Print a bill receipt</a:t>
            </a:r>
          </a:p>
        </p:txBody>
      </p:sp>
      <p:sp>
        <p:nvSpPr>
          <p:cNvPr id="14" name="Rounded Rectangle 13"/>
          <p:cNvSpPr/>
          <p:nvPr/>
        </p:nvSpPr>
        <p:spPr>
          <a:xfrm>
            <a:off x="6583680" y="1828800"/>
            <a:ext cx="4572000" cy="9144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50">
                <a:solidFill>
                  <a:srgbClr val="D8E2F0"/>
                </a:solidFill>
                <a:latin typeface="Consolas"/>
              </a:rPr>
              <a:t>sqlplus -S System/aditya</a:t>
            </a:r>
          </a:p>
          <a:p>
            <a:r>
              <a:rPr sz="1150">
                <a:solidFill>
                  <a:srgbClr val="D8E2F0"/>
                </a:solidFill>
                <a:latin typeface="Consolas"/>
              </a:rPr>
              <a:t>  "@bill_script.sql" 1001</a:t>
            </a:r>
          </a:p>
        </p:txBody>
      </p:sp>
      <p:sp>
        <p:nvSpPr>
          <p:cNvPr id="15" name="TextBox 14"/>
          <p:cNvSpPr txBox="1"/>
          <p:nvPr/>
        </p:nvSpPr>
        <p:spPr>
          <a:xfrm>
            <a:off x="6583680" y="2880360"/>
            <a:ext cx="4572000" cy="640080"/>
          </a:xfrm>
          <a:prstGeom prst="rect">
            <a:avLst/>
          </a:prstGeom>
          <a:noFill/>
        </p:spPr>
        <p:txBody>
          <a:bodyPr wrap="square">
            <a:spAutoFit/>
          </a:bodyPr>
          <a:lstStyle/>
          <a:p>
            <a:pPr algn="l">
              <a:spcAft>
                <a:spcPts val="0"/>
              </a:spcAft>
            </a:pPr>
            <a:r>
              <a:rPr sz="1100" b="0">
                <a:solidFill>
                  <a:srgbClr val="6E7582"/>
                </a:solidFill>
                <a:latin typeface="Calibri"/>
              </a:rPr>
              <a:t>Pass any BillID — 1001, 1002, or a bill you just created.</a:t>
            </a:r>
          </a:p>
        </p:txBody>
      </p:sp>
      <p:sp>
        <p:nvSpPr>
          <p:cNvPr id="16" name="Rounded Rectangle 15"/>
          <p:cNvSpPr/>
          <p:nvPr/>
        </p:nvSpPr>
        <p:spPr>
          <a:xfrm>
            <a:off x="822960" y="3886200"/>
            <a:ext cx="10515600" cy="54864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023360"/>
            <a:ext cx="10058400" cy="365760"/>
          </a:xfrm>
          <a:prstGeom prst="rect">
            <a:avLst/>
          </a:prstGeom>
          <a:noFill/>
        </p:spPr>
        <p:txBody>
          <a:bodyPr wrap="square">
            <a:spAutoFit/>
          </a:bodyPr>
          <a:lstStyle/>
          <a:p>
            <a:pPr algn="l">
              <a:spcAft>
                <a:spcPts val="0"/>
              </a:spcAft>
            </a:pPr>
            <a:r>
              <a:rPr sz="1250" b="1">
                <a:solidFill>
                  <a:srgbClr val="1F3864"/>
                </a:solidFill>
                <a:latin typeface="Calibri"/>
              </a:rPr>
              <a:t>Interactive mode:  open sqlplus System/aditya and type queries at the SQL&gt; prompt.</a:t>
            </a:r>
          </a:p>
        </p:txBody>
      </p:sp>
      <p:graphicFrame>
        <p:nvGraphicFramePr>
          <p:cNvPr id="18" name="Table 17"/>
          <p:cNvGraphicFramePr>
            <a:graphicFrameLocks noGrp="1"/>
          </p:cNvGraphicFramePr>
          <p:nvPr/>
        </p:nvGraphicFramePr>
        <p:xfrm>
          <a:off x="822960" y="4663440"/>
          <a:ext cx="10515600" cy="1042416"/>
        </p:xfrm>
        <a:graphic>
          <a:graphicData uri="http://schemas.openxmlformats.org/drawingml/2006/table">
            <a:tbl>
              <a:tblPr firstRow="1" bandRow="1">
                <a:tableStyleId>{5C22544A-7EE6-4342-B048-85BDC9FD1C3A}</a:tableStyleId>
              </a:tblPr>
              <a:tblGrid>
                <a:gridCol w="2377440"/>
                <a:gridCol w="8138160"/>
              </a:tblGrid>
              <a:tr h="347472">
                <a:tc>
                  <a:txBody>
                    <a:bodyPr wrap="square"/>
                    <a:lstStyle/>
                    <a:p>
                      <a:r>
                        <a:rPr sz="1150" b="1">
                          <a:solidFill>
                            <a:srgbClr val="FFFFFF"/>
                          </a:solidFill>
                          <a:latin typeface="Calibri"/>
                        </a:rPr>
                        <a:t>File</a:t>
                      </a:r>
                    </a:p>
                  </a:txBody>
                  <a:tcPr marT="12700" marB="12700" marL="88900" marR="63500">
                    <a:solidFill>
                      <a:srgbClr val="1F3864"/>
                    </a:solidFill>
                  </a:tcPr>
                </a:tc>
                <a:tc>
                  <a:txBody>
                    <a:bodyPr wrap="square"/>
                    <a:lstStyle/>
                    <a:p>
                      <a:r>
                        <a:rPr sz="1150" b="1">
                          <a:solidFill>
                            <a:srgbClr val="FFFFFF"/>
                          </a:solidFill>
                          <a:latin typeface="Calibri"/>
                        </a:rPr>
                        <a:t>Purpose</a:t>
                      </a:r>
                    </a:p>
                  </a:txBody>
                  <a:tcPr marT="12700" marB="12700" marL="88900" marR="63500">
                    <a:solidFill>
                      <a:srgbClr val="1F3864"/>
                    </a:solidFill>
                  </a:tcPr>
                </a:tc>
              </a:tr>
              <a:tr h="347472">
                <a:tc>
                  <a:txBody>
                    <a:bodyPr wrap="square"/>
                    <a:lstStyle/>
                    <a:p>
                      <a:r>
                        <a:rPr sz="1150" b="0">
                          <a:solidFill>
                            <a:srgbClr val="333333"/>
                          </a:solidFill>
                          <a:latin typeface="Calibri"/>
                        </a:rPr>
                        <a:t>store_database.sql</a:t>
                      </a:r>
                    </a:p>
                  </a:txBody>
                  <a:tcPr marT="12700" marB="12700" marL="88900" marR="63500">
                    <a:solidFill>
                      <a:srgbClr val="FFFFFF"/>
                    </a:solidFill>
                  </a:tcPr>
                </a:tc>
                <a:tc>
                  <a:txBody>
                    <a:bodyPr wrap="square"/>
                    <a:lstStyle/>
                    <a:p>
                      <a:r>
                        <a:rPr sz="1150" b="0">
                          <a:solidFill>
                            <a:srgbClr val="333333"/>
                          </a:solidFill>
                          <a:latin typeface="Calibri"/>
                        </a:rPr>
                        <a:t>Creates everything (tables, trigger, sample data, verification)</a:t>
                      </a:r>
                    </a:p>
                  </a:txBody>
                  <a:tcPr marT="12700" marB="12700" marL="88900" marR="63500">
                    <a:solidFill>
                      <a:srgbClr val="FFFFFF"/>
                    </a:solidFill>
                  </a:tcPr>
                </a:tc>
              </a:tr>
              <a:tr h="347472">
                <a:tc>
                  <a:txBody>
                    <a:bodyPr wrap="square"/>
                    <a:lstStyle/>
                    <a:p>
                      <a:r>
                        <a:rPr sz="1150" b="0">
                          <a:solidFill>
                            <a:srgbClr val="333333"/>
                          </a:solidFill>
                          <a:latin typeface="Calibri"/>
                        </a:rPr>
                        <a:t>bill_script.sql</a:t>
                      </a:r>
                    </a:p>
                  </a:txBody>
                  <a:tcPr marT="12700" marB="12700" marL="88900" marR="63500">
                    <a:solidFill>
                      <a:srgbClr val="F2F4F8"/>
                    </a:solidFill>
                  </a:tcPr>
                </a:tc>
                <a:tc>
                  <a:txBody>
                    <a:bodyPr wrap="square"/>
                    <a:lstStyle/>
                    <a:p>
                      <a:r>
                        <a:rPr sz="1150" b="0">
                          <a:solidFill>
                            <a:srgbClr val="333333"/>
                          </a:solidFill>
                          <a:latin typeface="Calibri"/>
                        </a:rPr>
                        <a:t>Prints a formatted receipt for the given BillID</a:t>
                      </a:r>
                    </a:p>
                  </a:txBody>
                  <a:tcPr marT="12700" marB="12700" marL="88900" marR="63500">
                    <a:solidFill>
                      <a:srgbClr val="F2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CRUD Operations</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Create • Read • Update • Delete</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14</a:t>
            </a:r>
          </a:p>
        </p:txBody>
      </p:sp>
      <p:sp>
        <p:nvSpPr>
          <p:cNvPr id="8" name="Rounded Rectangle 7"/>
          <p:cNvSpPr/>
          <p:nvPr/>
        </p:nvSpPr>
        <p:spPr>
          <a:xfrm>
            <a:off x="822960" y="1234440"/>
            <a:ext cx="5212080" cy="173736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8FA8C9"/>
                </a:solidFill>
                <a:latin typeface="Consolas"/>
              </a:rPr>
              <a:t>-- CREATE: add a product</a:t>
            </a:r>
          </a:p>
          <a:p>
            <a:r>
              <a:rPr sz="1100">
                <a:solidFill>
                  <a:srgbClr val="D8E2F0"/>
                </a:solidFill>
                <a:latin typeface="Consolas"/>
              </a:rPr>
              <a:t>INSERT INTO Products</a:t>
            </a:r>
          </a:p>
          <a:p>
            <a:r>
              <a:rPr sz="1100">
                <a:solidFill>
                  <a:srgbClr val="D8E2F0"/>
                </a:solidFill>
                <a:latin typeface="Consolas"/>
              </a:rPr>
              <a:t> (ProductID, ProductName, CategoryID,</a:t>
            </a:r>
          </a:p>
          <a:p>
            <a:r>
              <a:rPr sz="1100">
                <a:solidFill>
                  <a:srgbClr val="D8E2F0"/>
                </a:solidFill>
                <a:latin typeface="Consolas"/>
              </a:rPr>
              <a:t>  SupplierID, Price, Stock)</a:t>
            </a:r>
          </a:p>
          <a:p>
            <a:r>
              <a:rPr sz="1100">
                <a:solidFill>
                  <a:srgbClr val="D8E2F0"/>
                </a:solidFill>
                <a:latin typeface="Consolas"/>
              </a:rPr>
              <a:t>VALUES (106, 'Atta 10kg', 1, 1, 380, 25);</a:t>
            </a:r>
          </a:p>
        </p:txBody>
      </p:sp>
      <p:sp>
        <p:nvSpPr>
          <p:cNvPr id="9" name="Rounded Rectangle 8"/>
          <p:cNvSpPr/>
          <p:nvPr/>
        </p:nvSpPr>
        <p:spPr>
          <a:xfrm>
            <a:off x="6263640" y="1234440"/>
            <a:ext cx="5120640" cy="173736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8FA8C9"/>
                </a:solidFill>
                <a:latin typeface="Consolas"/>
              </a:rPr>
              <a:t>-- READ: view / filter / sort</a:t>
            </a:r>
          </a:p>
          <a:p>
            <a:r>
              <a:rPr sz="1100">
                <a:solidFill>
                  <a:srgbClr val="D8E2F0"/>
                </a:solidFill>
                <a:latin typeface="Consolas"/>
              </a:rPr>
              <a:t>SELECT * FROM Products;</a:t>
            </a:r>
          </a:p>
          <a:p>
            <a:r>
              <a:rPr sz="1100">
                <a:solidFill>
                  <a:srgbClr val="D8E2F0"/>
                </a:solidFill>
                <a:latin typeface="Consolas"/>
              </a:rPr>
              <a:t>SELECT ProductName, Price</a:t>
            </a:r>
          </a:p>
          <a:p>
            <a:r>
              <a:rPr sz="1100">
                <a:solidFill>
                  <a:srgbClr val="D8E2F0"/>
                </a:solidFill>
                <a:latin typeface="Consolas"/>
              </a:rPr>
              <a:t>FROM Products</a:t>
            </a:r>
          </a:p>
          <a:p>
            <a:r>
              <a:rPr sz="1100">
                <a:solidFill>
                  <a:srgbClr val="D8E2F0"/>
                </a:solidFill>
                <a:latin typeface="Consolas"/>
              </a:rPr>
              <a:t>WHERE Price &gt; 100</a:t>
            </a:r>
          </a:p>
          <a:p>
            <a:r>
              <a:rPr sz="1100">
                <a:solidFill>
                  <a:srgbClr val="D8E2F0"/>
                </a:solidFill>
                <a:latin typeface="Consolas"/>
              </a:rPr>
              <a:t>ORDER BY Price DESC;</a:t>
            </a:r>
          </a:p>
        </p:txBody>
      </p:sp>
      <p:sp>
        <p:nvSpPr>
          <p:cNvPr id="10" name="Rounded Rectangle 9"/>
          <p:cNvSpPr/>
          <p:nvPr/>
        </p:nvSpPr>
        <p:spPr>
          <a:xfrm>
            <a:off x="822960" y="3154680"/>
            <a:ext cx="5212080" cy="173736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8FA8C9"/>
                </a:solidFill>
                <a:latin typeface="Consolas"/>
              </a:rPr>
              <a:t>-- UPDATE: change price &amp; stock</a:t>
            </a:r>
          </a:p>
          <a:p>
            <a:r>
              <a:rPr sz="1100">
                <a:solidFill>
                  <a:srgbClr val="D8E2F0"/>
                </a:solidFill>
                <a:latin typeface="Consolas"/>
              </a:rPr>
              <a:t>UPDATE Products SET Price = 560</a:t>
            </a:r>
          </a:p>
          <a:p>
            <a:r>
              <a:rPr sz="1100">
                <a:solidFill>
                  <a:srgbClr val="D8E2F0"/>
                </a:solidFill>
                <a:latin typeface="Consolas"/>
              </a:rPr>
              <a:t>WHERE ProductID = 101;</a:t>
            </a:r>
          </a:p>
          <a:p>
            <a:r>
              <a:rPr sz="1100">
                <a:solidFill>
                  <a:srgbClr val="D8E2F0"/>
                </a:solidFill>
                <a:latin typeface="Consolas"/>
              </a:rPr>
              <a:t>COMMIT;</a:t>
            </a:r>
          </a:p>
        </p:txBody>
      </p:sp>
      <p:sp>
        <p:nvSpPr>
          <p:cNvPr id="11" name="Rounded Rectangle 10"/>
          <p:cNvSpPr/>
          <p:nvPr/>
        </p:nvSpPr>
        <p:spPr>
          <a:xfrm>
            <a:off x="6263640" y="3154680"/>
            <a:ext cx="5120640" cy="173736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8FA8C9"/>
                </a:solidFill>
                <a:latin typeface="Consolas"/>
              </a:rPr>
              <a:t>-- DELETE: remove a row</a:t>
            </a:r>
          </a:p>
          <a:p>
            <a:r>
              <a:rPr sz="1100">
                <a:solidFill>
                  <a:srgbClr val="D8E2F0"/>
                </a:solidFill>
                <a:latin typeface="Consolas"/>
              </a:rPr>
              <a:t>DELETE FROM Products</a:t>
            </a:r>
          </a:p>
          <a:p>
            <a:r>
              <a:rPr sz="1100">
                <a:solidFill>
                  <a:srgbClr val="D8E2F0"/>
                </a:solidFill>
                <a:latin typeface="Consolas"/>
              </a:rPr>
              <a:t>WHERE ProductID = 106;</a:t>
            </a:r>
          </a:p>
          <a:p>
            <a:r>
              <a:rPr sz="1100">
                <a:solidFill>
                  <a:srgbClr val="D8E2F0"/>
                </a:solidFill>
                <a:latin typeface="Consolas"/>
              </a:rPr>
              <a:t>COMMIT;</a:t>
            </a:r>
          </a:p>
        </p:txBody>
      </p:sp>
      <p:sp>
        <p:nvSpPr>
          <p:cNvPr id="12" name="Rounded Rectangle 11"/>
          <p:cNvSpPr/>
          <p:nvPr/>
        </p:nvSpPr>
        <p:spPr>
          <a:xfrm>
            <a:off x="822960" y="5074920"/>
            <a:ext cx="10561320" cy="1188720"/>
          </a:xfrm>
          <a:prstGeom prst="roundRect">
            <a:avLst/>
          </a:prstGeom>
          <a:solidFill>
            <a:srgbClr val="FDF0E3"/>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5184648"/>
            <a:ext cx="10158984" cy="365760"/>
          </a:xfrm>
          <a:prstGeom prst="rect">
            <a:avLst/>
          </a:prstGeom>
          <a:noFill/>
        </p:spPr>
        <p:txBody>
          <a:bodyPr wrap="square">
            <a:spAutoFit/>
          </a:bodyPr>
          <a:lstStyle/>
          <a:p>
            <a:pPr algn="l">
              <a:spcAft>
                <a:spcPts val="0"/>
              </a:spcAft>
            </a:pPr>
            <a:r>
              <a:rPr sz="1450" b="1">
                <a:solidFill>
                  <a:srgbClr val="1F3864"/>
                </a:solidFill>
                <a:latin typeface="Calibri"/>
              </a:rPr>
              <a:t>Referential integrity at work</a:t>
            </a:r>
          </a:p>
        </p:txBody>
      </p:sp>
      <p:sp>
        <p:nvSpPr>
          <p:cNvPr id="14" name="TextBox 13"/>
          <p:cNvSpPr txBox="1"/>
          <p:nvPr/>
        </p:nvSpPr>
        <p:spPr>
          <a:xfrm>
            <a:off x="1051560" y="5486400"/>
            <a:ext cx="10058400" cy="731520"/>
          </a:xfrm>
          <a:prstGeom prst="rect">
            <a:avLst/>
          </a:prstGeom>
          <a:noFill/>
        </p:spPr>
        <p:txBody>
          <a:bodyPr wrap="square">
            <a:spAutoFit/>
          </a:bodyPr>
          <a:lstStyle/>
          <a:p>
            <a:pPr algn="l">
              <a:spcAft>
                <a:spcPts val="400"/>
              </a:spcAft>
            </a:pPr>
            <a:r>
              <a:rPr sz="1200" b="0">
                <a:solidFill>
                  <a:srgbClr val="333333"/>
                </a:solidFill>
                <a:latin typeface="Calibri"/>
              </a:rPr>
              <a:t>•  Deleting a category that still has products → ORA-02292 error — the database refuses.</a:t>
            </a:r>
          </a:p>
          <a:p>
            <a:pPr algn="l">
              <a:spcAft>
                <a:spcPts val="400"/>
              </a:spcAft>
            </a:pPr>
            <a:r>
              <a:rPr sz="1200" b="0">
                <a:solidFill>
                  <a:srgbClr val="333333"/>
                </a:solidFill>
                <a:latin typeface="Calibri"/>
              </a:rPr>
              <a:t>•  Same for a customer who already has bills, or a product already used in a bill.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Useful Report Queries</a:t>
            </a:r>
          </a:p>
        </p:txBody>
      </p:sp>
      <p:sp>
        <p:nvSpPr>
          <p:cNvPr id="5" name="TextBox 4"/>
          <p:cNvSpPr txBox="1"/>
          <p:nvPr/>
        </p:nvSpPr>
        <p:spPr>
          <a:xfrm>
            <a:off x="521207" y="475488"/>
            <a:ext cx="10058400" cy="320040"/>
          </a:xfrm>
          <a:prstGeom prst="rect">
            <a:avLst/>
          </a:prstGeom>
          <a:noFill/>
        </p:spPr>
        <p:txBody>
          <a:bodyPr wrap="square">
            <a:spAutoFit/>
          </a:bodyPr>
          <a:lstStyle/>
          <a:p>
            <a:pPr algn="l">
              <a:spcAft>
                <a:spcPts val="0"/>
              </a:spcAft>
            </a:pPr>
            <a:r>
              <a:rPr sz="1300" b="0">
                <a:solidFill>
                  <a:srgbClr val="BFD1EB"/>
                </a:solidFill>
                <a:latin typeface="Calibri"/>
              </a:rPr>
              <a:t>Joins, grouping and filters</a:t>
            </a:r>
          </a:p>
        </p:txBody>
      </p:sp>
      <p:sp>
        <p:nvSpPr>
          <p:cNvPr id="6" name="TextBox 5"/>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7" name="TextBox 6"/>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15</a:t>
            </a:r>
          </a:p>
        </p:txBody>
      </p:sp>
      <p:sp>
        <p:nvSpPr>
          <p:cNvPr id="8" name="Rounded Rectangle 7"/>
          <p:cNvSpPr/>
          <p:nvPr/>
        </p:nvSpPr>
        <p:spPr>
          <a:xfrm>
            <a:off x="822960" y="1234440"/>
            <a:ext cx="5212080" cy="228600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344168"/>
            <a:ext cx="4809744" cy="365760"/>
          </a:xfrm>
          <a:prstGeom prst="rect">
            <a:avLst/>
          </a:prstGeom>
          <a:noFill/>
        </p:spPr>
        <p:txBody>
          <a:bodyPr wrap="square">
            <a:spAutoFit/>
          </a:bodyPr>
          <a:lstStyle/>
          <a:p>
            <a:pPr algn="l">
              <a:spcAft>
                <a:spcPts val="0"/>
              </a:spcAft>
            </a:pPr>
            <a:r>
              <a:rPr sz="1450" b="1">
                <a:solidFill>
                  <a:srgbClr val="1F3864"/>
                </a:solidFill>
                <a:latin typeface="Calibri"/>
              </a:rPr>
              <a:t>Product + category name (JOIN)</a:t>
            </a:r>
          </a:p>
        </p:txBody>
      </p:sp>
      <p:sp>
        <p:nvSpPr>
          <p:cNvPr id="10" name="Rounded Rectangle 9"/>
          <p:cNvSpPr/>
          <p:nvPr/>
        </p:nvSpPr>
        <p:spPr>
          <a:xfrm>
            <a:off x="1051560" y="1783080"/>
            <a:ext cx="4754880" cy="16002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D8E2F0"/>
                </a:solidFill>
                <a:latin typeface="Consolas"/>
              </a:rPr>
              <a:t>SELECT p.ProductName,</a:t>
            </a:r>
          </a:p>
          <a:p>
            <a:r>
              <a:rPr sz="1100">
                <a:solidFill>
                  <a:srgbClr val="D8E2F0"/>
                </a:solidFill>
                <a:latin typeface="Consolas"/>
              </a:rPr>
              <a:t>       c.CategoryName, p.Price</a:t>
            </a:r>
          </a:p>
          <a:p>
            <a:r>
              <a:rPr sz="1100">
                <a:solidFill>
                  <a:srgbClr val="D8E2F0"/>
                </a:solidFill>
                <a:latin typeface="Consolas"/>
              </a:rPr>
              <a:t>FROM Products p</a:t>
            </a:r>
          </a:p>
          <a:p>
            <a:r>
              <a:rPr sz="1100">
                <a:solidFill>
                  <a:srgbClr val="D8E2F0"/>
                </a:solidFill>
                <a:latin typeface="Consolas"/>
              </a:rPr>
              <a:t>JOIN Categories c</a:t>
            </a:r>
          </a:p>
          <a:p>
            <a:r>
              <a:rPr sz="1100">
                <a:solidFill>
                  <a:srgbClr val="D8E2F0"/>
                </a:solidFill>
                <a:latin typeface="Consolas"/>
              </a:rPr>
              <a:t>  ON p.CategoryID = c.CategoryID;</a:t>
            </a:r>
          </a:p>
        </p:txBody>
      </p:sp>
      <p:sp>
        <p:nvSpPr>
          <p:cNvPr id="11" name="Rounded Rectangle 10"/>
          <p:cNvSpPr/>
          <p:nvPr/>
        </p:nvSpPr>
        <p:spPr>
          <a:xfrm>
            <a:off x="6263640" y="1234440"/>
            <a:ext cx="5120640" cy="228600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344168"/>
            <a:ext cx="4718303" cy="365760"/>
          </a:xfrm>
          <a:prstGeom prst="rect">
            <a:avLst/>
          </a:prstGeom>
          <a:noFill/>
        </p:spPr>
        <p:txBody>
          <a:bodyPr wrap="square">
            <a:spAutoFit/>
          </a:bodyPr>
          <a:lstStyle/>
          <a:p>
            <a:pPr algn="l">
              <a:spcAft>
                <a:spcPts val="0"/>
              </a:spcAft>
            </a:pPr>
            <a:r>
              <a:rPr sz="1450" b="1">
                <a:solidFill>
                  <a:srgbClr val="1F3864"/>
                </a:solidFill>
                <a:latin typeface="Calibri"/>
              </a:rPr>
              <a:t>Sales per day (GROUP BY)</a:t>
            </a:r>
          </a:p>
        </p:txBody>
      </p:sp>
      <p:sp>
        <p:nvSpPr>
          <p:cNvPr id="13" name="Rounded Rectangle 12"/>
          <p:cNvSpPr/>
          <p:nvPr/>
        </p:nvSpPr>
        <p:spPr>
          <a:xfrm>
            <a:off x="6492240" y="1783080"/>
            <a:ext cx="4663440" cy="16002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00">
                <a:solidFill>
                  <a:srgbClr val="D8E2F0"/>
                </a:solidFill>
                <a:latin typeface="Consolas"/>
              </a:rPr>
              <a:t>SELECT BillDate,</a:t>
            </a:r>
          </a:p>
          <a:p>
            <a:r>
              <a:rPr sz="1100">
                <a:solidFill>
                  <a:srgbClr val="D8E2F0"/>
                </a:solidFill>
                <a:latin typeface="Consolas"/>
              </a:rPr>
              <a:t>       SUM(TotalAmount) Sales</a:t>
            </a:r>
          </a:p>
          <a:p>
            <a:r>
              <a:rPr sz="1100">
                <a:solidFill>
                  <a:srgbClr val="D8E2F0"/>
                </a:solidFill>
                <a:latin typeface="Consolas"/>
              </a:rPr>
              <a:t>FROM Bills</a:t>
            </a:r>
          </a:p>
          <a:p>
            <a:r>
              <a:rPr sz="1100">
                <a:solidFill>
                  <a:srgbClr val="D8E2F0"/>
                </a:solidFill>
                <a:latin typeface="Consolas"/>
              </a:rPr>
              <a:t>GROUP BY BillDate;</a:t>
            </a:r>
          </a:p>
        </p:txBody>
      </p:sp>
      <p:sp>
        <p:nvSpPr>
          <p:cNvPr id="14" name="Rounded Rectangle 13"/>
          <p:cNvSpPr/>
          <p:nvPr/>
        </p:nvSpPr>
        <p:spPr>
          <a:xfrm>
            <a:off x="822960" y="3703320"/>
            <a:ext cx="10561320" cy="210312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813048"/>
            <a:ext cx="10158984" cy="365760"/>
          </a:xfrm>
          <a:prstGeom prst="rect">
            <a:avLst/>
          </a:prstGeom>
          <a:noFill/>
        </p:spPr>
        <p:txBody>
          <a:bodyPr wrap="square">
            <a:spAutoFit/>
          </a:bodyPr>
          <a:lstStyle/>
          <a:p>
            <a:pPr algn="l">
              <a:spcAft>
                <a:spcPts val="0"/>
              </a:spcAft>
            </a:pPr>
            <a:r>
              <a:rPr sz="1450" b="1">
                <a:solidFill>
                  <a:srgbClr val="1F3864"/>
                </a:solidFill>
                <a:latin typeface="Calibri"/>
              </a:rPr>
              <a:t>Best-selling products</a:t>
            </a:r>
          </a:p>
        </p:txBody>
      </p:sp>
      <p:sp>
        <p:nvSpPr>
          <p:cNvPr id="16" name="Rounded Rectangle 15"/>
          <p:cNvSpPr/>
          <p:nvPr/>
        </p:nvSpPr>
        <p:spPr>
          <a:xfrm>
            <a:off x="1051560" y="4251960"/>
            <a:ext cx="10104120" cy="1371600"/>
          </a:xfrm>
          <a:prstGeom prst="roundRect">
            <a:avLst/>
          </a:prstGeom>
          <a:solidFill>
            <a:srgbClr val="121C2E"/>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91440"/>
          <a:lstStyle/>
          <a:p>
            <a:pPr algn="ctr"/>
            <a:r>
              <a:rPr sz="1150">
                <a:solidFill>
                  <a:srgbClr val="D8E2F0"/>
                </a:solidFill>
                <a:latin typeface="Consolas"/>
              </a:rPr>
              <a:t>SELECT p.ProductName, SUM(i.Quantity) AS Sold</a:t>
            </a:r>
          </a:p>
          <a:p>
            <a:r>
              <a:rPr sz="1150">
                <a:solidFill>
                  <a:srgbClr val="D8E2F0"/>
                </a:solidFill>
                <a:latin typeface="Consolas"/>
              </a:rPr>
              <a:t>FROM BillItems i JOIN Products p ON i.ProductID = p.ProductID</a:t>
            </a:r>
          </a:p>
          <a:p>
            <a:r>
              <a:rPr sz="1150">
                <a:solidFill>
                  <a:srgbClr val="D8E2F0"/>
                </a:solidFill>
                <a:latin typeface="Consolas"/>
              </a:rPr>
              <a:t>GROUP BY p.ProductName ORDER BY Sold DESC;</a:t>
            </a:r>
          </a:p>
        </p:txBody>
      </p:sp>
      <p:sp>
        <p:nvSpPr>
          <p:cNvPr id="17" name="TextBox 16"/>
          <p:cNvSpPr txBox="1"/>
          <p:nvPr/>
        </p:nvSpPr>
        <p:spPr>
          <a:xfrm>
            <a:off x="822960" y="5943600"/>
            <a:ext cx="10515600" cy="365760"/>
          </a:xfrm>
          <a:prstGeom prst="rect">
            <a:avLst/>
          </a:prstGeom>
          <a:noFill/>
        </p:spPr>
        <p:txBody>
          <a:bodyPr wrap="square">
            <a:spAutoFit/>
          </a:bodyPr>
          <a:lstStyle/>
          <a:p>
            <a:pPr algn="l">
              <a:spcAft>
                <a:spcPts val="0"/>
              </a:spcAft>
            </a:pPr>
            <a:r>
              <a:rPr sz="1200" b="0">
                <a:solidFill>
                  <a:srgbClr val="6E7582"/>
                </a:solidFill>
                <a:latin typeface="Consolas"/>
              </a:rPr>
              <a:t>Plus: low-stock alert —  SELECT * FROM Products WHERE Stock &lt; 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695" cy="54864"/>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10515600" cy="640080"/>
          </a:xfrm>
          <a:prstGeom prst="rect">
            <a:avLst/>
          </a:prstGeom>
          <a:noFill/>
        </p:spPr>
        <p:txBody>
          <a:bodyPr wrap="square">
            <a:spAutoFit/>
          </a:bodyPr>
          <a:lstStyle/>
          <a:p>
            <a:pPr algn="l">
              <a:spcAft>
                <a:spcPts val="0"/>
              </a:spcAft>
            </a:pPr>
            <a:r>
              <a:rPr sz="2700" b="1">
                <a:solidFill>
                  <a:srgbClr val="FFFFFF"/>
                </a:solidFill>
                <a:latin typeface="Calibri"/>
              </a:rPr>
              <a:t>Conclusion &amp; Advantages</a:t>
            </a:r>
          </a:p>
        </p:txBody>
      </p:sp>
      <p:sp>
        <p:nvSpPr>
          <p:cNvPr id="5" name="TextBox 4"/>
          <p:cNvSpPr txBox="1"/>
          <p:nvPr/>
        </p:nvSpPr>
        <p:spPr>
          <a:xfrm>
            <a:off x="502920" y="6510528"/>
            <a:ext cx="8229600" cy="274320"/>
          </a:xfrm>
          <a:prstGeom prst="rect">
            <a:avLst/>
          </a:prstGeom>
          <a:noFill/>
        </p:spPr>
        <p:txBody>
          <a:bodyPr wrap="square">
            <a:spAutoFit/>
          </a:bodyPr>
          <a:lstStyle/>
          <a:p>
            <a:pPr algn="l">
              <a:spcAft>
                <a:spcPts val="0"/>
              </a:spcAft>
            </a:pPr>
            <a:r>
              <a:rPr sz="900" b="0">
                <a:solidFill>
                  <a:srgbClr val="6E7582"/>
                </a:solidFill>
                <a:latin typeface="Calibri"/>
              </a:rPr>
              <a:t>Retail Store Management System — DBMS Project</a:t>
            </a:r>
          </a:p>
        </p:txBody>
      </p:sp>
      <p:sp>
        <p:nvSpPr>
          <p:cNvPr id="6" name="TextBox 5"/>
          <p:cNvSpPr txBox="1"/>
          <p:nvPr/>
        </p:nvSpPr>
        <p:spPr>
          <a:xfrm>
            <a:off x="11247120" y="6510528"/>
            <a:ext cx="640080" cy="274320"/>
          </a:xfrm>
          <a:prstGeom prst="rect">
            <a:avLst/>
          </a:prstGeom>
          <a:noFill/>
        </p:spPr>
        <p:txBody>
          <a:bodyPr wrap="square">
            <a:spAutoFit/>
          </a:bodyPr>
          <a:lstStyle/>
          <a:p>
            <a:pPr algn="r">
              <a:spcAft>
                <a:spcPts val="0"/>
              </a:spcAft>
            </a:pPr>
            <a:r>
              <a:rPr sz="1000" b="1">
                <a:solidFill>
                  <a:srgbClr val="6E7582"/>
                </a:solidFill>
                <a:latin typeface="Calibri"/>
              </a:rPr>
              <a:t>16</a:t>
            </a:r>
          </a:p>
        </p:txBody>
      </p:sp>
      <p:sp>
        <p:nvSpPr>
          <p:cNvPr id="7" name="TextBox 6"/>
          <p:cNvSpPr txBox="1"/>
          <p:nvPr/>
        </p:nvSpPr>
        <p:spPr>
          <a:xfrm>
            <a:off x="822960" y="1280160"/>
            <a:ext cx="10515600" cy="3657600"/>
          </a:xfrm>
          <a:prstGeom prst="rect">
            <a:avLst/>
          </a:prstGeom>
          <a:noFill/>
        </p:spPr>
        <p:txBody>
          <a:bodyPr wrap="square">
            <a:spAutoFit/>
          </a:bodyPr>
          <a:lstStyle/>
          <a:p>
            <a:pPr algn="l">
              <a:spcAft>
                <a:spcPts val="1000"/>
              </a:spcAft>
            </a:pPr>
            <a:r>
              <a:rPr sz="1550" b="0">
                <a:solidFill>
                  <a:srgbClr val="333333"/>
                </a:solidFill>
                <a:latin typeface="Calibri"/>
              </a:rPr>
              <a:t>•  Six tables cover the complete store workflow — catalogue, suppliers, customers, billing.</a:t>
            </a:r>
          </a:p>
          <a:p>
            <a:pPr algn="l">
              <a:spcAft>
                <a:spcPts val="1000"/>
              </a:spcAft>
            </a:pPr>
            <a:r>
              <a:rPr sz="1550" b="0">
                <a:solidFill>
                  <a:srgbClr val="333333"/>
                </a:solidFill>
                <a:latin typeface="Calibri"/>
              </a:rPr>
              <a:t>•  Normalized design — every fact stored once, no repeated data.</a:t>
            </a:r>
          </a:p>
          <a:p>
            <a:pPr algn="l">
              <a:spcAft>
                <a:spcPts val="1000"/>
              </a:spcAft>
            </a:pPr>
            <a:r>
              <a:rPr sz="1550" b="0">
                <a:solidFill>
                  <a:srgbClr val="333333"/>
                </a:solidFill>
                <a:latin typeface="Calibri"/>
              </a:rPr>
              <a:t>•  Foreign keys enforce integrity — invalid data is rejected automatically.</a:t>
            </a:r>
          </a:p>
          <a:p>
            <a:pPr algn="l">
              <a:spcAft>
                <a:spcPts val="1000"/>
              </a:spcAft>
            </a:pPr>
            <a:r>
              <a:rPr sz="1550" b="0">
                <a:solidFill>
                  <a:srgbClr val="333333"/>
                </a:solidFill>
                <a:latin typeface="Calibri"/>
              </a:rPr>
              <a:t>•  The trigger keeps every bill total mathematically correct without manual entry.</a:t>
            </a:r>
          </a:p>
          <a:p>
            <a:pPr algn="l">
              <a:spcAft>
                <a:spcPts val="1000"/>
              </a:spcAft>
            </a:pPr>
            <a:r>
              <a:rPr sz="1550" b="0">
                <a:solidFill>
                  <a:srgbClr val="333333"/>
                </a:solidFill>
                <a:latin typeface="Calibri"/>
              </a:rPr>
              <a:t>•  Formatted receipts print instantly for any bill.</a:t>
            </a:r>
          </a:p>
          <a:p>
            <a:pPr algn="l">
              <a:spcAft>
                <a:spcPts val="1000"/>
              </a:spcAft>
            </a:pPr>
            <a:r>
              <a:rPr sz="1550" b="0">
                <a:solidFill>
                  <a:srgbClr val="333333"/>
                </a:solidFill>
                <a:latin typeface="Calibri"/>
              </a:rPr>
              <a:t>•  Easy to extend: GST, discounts, stock alerts, more reports.</a:t>
            </a:r>
          </a:p>
        </p:txBody>
      </p:sp>
      <p:sp>
        <p:nvSpPr>
          <p:cNvPr id="8" name="Rounded Rectangle 7"/>
          <p:cNvSpPr/>
          <p:nvPr/>
        </p:nvSpPr>
        <p:spPr>
          <a:xfrm>
            <a:off x="822960" y="5029200"/>
            <a:ext cx="10515600" cy="1097280"/>
          </a:xfrm>
          <a:prstGeom prst="roundRect">
            <a:avLst/>
          </a:prstGeom>
          <a:solidFill>
            <a:srgbClr val="F2F4F8"/>
          </a:solidFill>
          <a:ln w="12700">
            <a:solidFill>
              <a:srgbClr val="D5DB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5138928"/>
            <a:ext cx="10113264" cy="365760"/>
          </a:xfrm>
          <a:prstGeom prst="rect">
            <a:avLst/>
          </a:prstGeom>
          <a:noFill/>
        </p:spPr>
        <p:txBody>
          <a:bodyPr wrap="square">
            <a:spAutoFit/>
          </a:bodyPr>
          <a:lstStyle/>
          <a:p>
            <a:pPr algn="l">
              <a:spcAft>
                <a:spcPts val="0"/>
              </a:spcAft>
            </a:pPr>
            <a:r>
              <a:rPr sz="1450" b="1">
                <a:solidFill>
                  <a:srgbClr val="1F3864"/>
                </a:solidFill>
                <a:latin typeface="Calibri"/>
              </a:rPr>
              <a:t>Project deliverables</a:t>
            </a:r>
          </a:p>
        </p:txBody>
      </p:sp>
      <p:sp>
        <p:nvSpPr>
          <p:cNvPr id="10" name="TextBox 9"/>
          <p:cNvSpPr txBox="1"/>
          <p:nvPr/>
        </p:nvSpPr>
        <p:spPr>
          <a:xfrm>
            <a:off x="1051560" y="5440680"/>
            <a:ext cx="10058400" cy="457200"/>
          </a:xfrm>
          <a:prstGeom prst="rect">
            <a:avLst/>
          </a:prstGeom>
          <a:noFill/>
        </p:spPr>
        <p:txBody>
          <a:bodyPr wrap="square">
            <a:spAutoFit/>
          </a:bodyPr>
          <a:lstStyle/>
          <a:p>
            <a:pPr algn="l">
              <a:spcAft>
                <a:spcPts val="0"/>
              </a:spcAft>
            </a:pPr>
            <a:r>
              <a:rPr sz="1300" b="0">
                <a:solidFill>
                  <a:srgbClr val="333333"/>
                </a:solidFill>
                <a:latin typeface="Consolas"/>
              </a:rPr>
              <a:t>store_database.sql  •  bill_script.sql  •  README.md  •  this presentation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2191695" cy="64008"/>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48840"/>
            <a:ext cx="10332720" cy="1097280"/>
          </a:xfrm>
          <a:prstGeom prst="rect">
            <a:avLst/>
          </a:prstGeom>
          <a:noFill/>
        </p:spPr>
        <p:txBody>
          <a:bodyPr wrap="square">
            <a:spAutoFit/>
          </a:bodyPr>
          <a:lstStyle/>
          <a:p>
            <a:pPr algn="l">
              <a:spcAft>
                <a:spcPts val="0"/>
              </a:spcAft>
            </a:pPr>
            <a:r>
              <a:rPr sz="5400" b="1">
                <a:solidFill>
                  <a:srgbClr val="FFFFFF"/>
                </a:solidFill>
                <a:latin typeface="Calibri"/>
              </a:rPr>
              <a:t>Thank You</a:t>
            </a:r>
          </a:p>
        </p:txBody>
      </p:sp>
      <p:sp>
        <p:nvSpPr>
          <p:cNvPr id="5" name="TextBox 4"/>
          <p:cNvSpPr txBox="1"/>
          <p:nvPr/>
        </p:nvSpPr>
        <p:spPr>
          <a:xfrm>
            <a:off x="914400" y="3200400"/>
            <a:ext cx="10332720" cy="548640"/>
          </a:xfrm>
          <a:prstGeom prst="rect">
            <a:avLst/>
          </a:prstGeom>
          <a:noFill/>
        </p:spPr>
        <p:txBody>
          <a:bodyPr wrap="square">
            <a:spAutoFit/>
          </a:bodyPr>
          <a:lstStyle/>
          <a:p>
            <a:pPr algn="l">
              <a:spcAft>
                <a:spcPts val="0"/>
              </a:spcAft>
            </a:pPr>
            <a:r>
              <a:rPr sz="2200" b="0">
                <a:solidFill>
                  <a:srgbClr val="ED7D31"/>
                </a:solidFill>
                <a:latin typeface="Calibri"/>
              </a:rPr>
              <a:t>Questions are welcome!</a:t>
            </a:r>
          </a:p>
        </p:txBody>
      </p:sp>
      <p:sp>
        <p:nvSpPr>
          <p:cNvPr id="6" name="TextBox 5"/>
          <p:cNvSpPr txBox="1"/>
          <p:nvPr/>
        </p:nvSpPr>
        <p:spPr>
          <a:xfrm>
            <a:off x="914400" y="4023360"/>
            <a:ext cx="10332720" cy="457200"/>
          </a:xfrm>
          <a:prstGeom prst="rect">
            <a:avLst/>
          </a:prstGeom>
          <a:noFill/>
        </p:spPr>
        <p:txBody>
          <a:bodyPr wrap="square">
            <a:spAutoFit/>
          </a:bodyPr>
          <a:lstStyle/>
          <a:p>
            <a:pPr algn="l">
              <a:spcAft>
                <a:spcPts val="0"/>
              </a:spcAft>
            </a:pPr>
            <a:r>
              <a:rPr sz="1400" b="0">
                <a:solidFill>
                  <a:srgbClr val="BFD1EB"/>
                </a:solidFill>
                <a:latin typeface="Calibri"/>
              </a:rPr>
              <a:t>Retail Store Management System — DBMS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